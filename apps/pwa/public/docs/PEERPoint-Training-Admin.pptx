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6" d="100"/>
          <a:sy n="86" d="100"/>
        </p:scale>
        <p:origin x="498" y="3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98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Peer Point Admin training. This guide covers the Admin site: inviting Peer Support Members, managing accounts and Leaders, On Call oversight, the request queue for Sheriff’s Office employees, Content, and Reports. Remember: Peer Support Members provide support. Salt Lake County Sheriff’s Office employees are the people requesting help.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 in at admin dot my Peer Point dot com. Production Admin host is for Admin accounts only. Peer Support Members sign in at my Peer Point dot com slash staff. Admins inherit staff queue rights. Change the seed Admin password after first login.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Members tab is the Peer Support Member roster — not Sheriff’s Office employees requesting help. Invite Staff or Admin access. Keep the invite link as a backup if email is delayed. Resend or Revoke pending invites. Disable or Enable accounts as needed. Make Leader for coverage-gap alerts, and set Male or Female for matching preferences.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Admins can schedule any Peer Support Member on On Call. Require availability acknowledgment before saving blocks, and keep coverage continuous so Sheriff’s Office employees can get help.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Requests queue for oversight of help requests from Sheriff’s Office employees: refresh for new work, assign or accept as needed, close completed requests, and confirm that in-app alerts and email or SMS reach Peer Support Members.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Content, edit Self Help articles, embed video links, upload Resource Gallery files, and publish or reset to built-in articles when needed. Employees see this content on the member site.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Reports show open, assigned, and closed totals, minutes by Peer Support Member, notes, and On Call history. Refresh after Peer Support Members log notes or time.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Admin checklist: sign in at admin dot my Peer Point dot com; invite Peer Support Members and Admins and designate Leaders; keep On Call current; monitor the employee request queue and alert delivery; maintain Content and review Reports. Thank you for running Peer Point for the team.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1.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4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4884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40"/>
            <a:ext cx="10972800" cy="457200"/>
          </a:xfrm>
          <a:prstGeom prst="rect">
            <a:avLst/>
          </a:prstGeom>
          <a:noFill/>
        </p:spPr>
        <p:txBody>
          <a:bodyPr wrap="none">
            <a:spAutoFit/>
          </a:bodyPr>
          <a:lstStyle/>
          <a:p>
            <a:r>
              <a:rPr sz="1400" b="1">
                <a:solidFill>
                  <a:srgbClr val="B45309"/>
                </a:solidFill>
                <a:latin typeface="Calibri"/>
              </a:rPr>
              <a:t>PEERPOINT  ·  SALT LAKE COUNTY SHERIFF'S OFFICE</a:t>
            </a:r>
          </a:p>
        </p:txBody>
      </p:sp>
      <p:sp>
        <p:nvSpPr>
          <p:cNvPr id="5" name="TextBox 4"/>
          <p:cNvSpPr txBox="1"/>
          <p:nvPr/>
        </p:nvSpPr>
        <p:spPr>
          <a:xfrm>
            <a:off x="640080" y="2377440"/>
            <a:ext cx="10972800" cy="1097280"/>
          </a:xfrm>
          <a:prstGeom prst="rect">
            <a:avLst/>
          </a:prstGeom>
          <a:noFill/>
        </p:spPr>
        <p:txBody>
          <a:bodyPr wrap="none">
            <a:spAutoFit/>
          </a:bodyPr>
          <a:lstStyle/>
          <a:p>
            <a:r>
              <a:rPr sz="4000" b="1">
                <a:solidFill>
                  <a:srgbClr val="FFFFFF"/>
                </a:solidFill>
                <a:latin typeface="Calibri"/>
              </a:rPr>
              <a:t>Admin training</a:t>
            </a:r>
          </a:p>
        </p:txBody>
      </p:sp>
      <p:sp>
        <p:nvSpPr>
          <p:cNvPr id="6" name="TextBox 5"/>
          <p:cNvSpPr txBox="1"/>
          <p:nvPr/>
        </p:nvSpPr>
        <p:spPr>
          <a:xfrm>
            <a:off x="640080" y="3520440"/>
            <a:ext cx="10972800" cy="731520"/>
          </a:xfrm>
          <a:prstGeom prst="rect">
            <a:avLst/>
          </a:prstGeom>
          <a:noFill/>
        </p:spPr>
        <p:txBody>
          <a:bodyPr wrap="square">
            <a:spAutoFit/>
          </a:bodyPr>
          <a:lstStyle/>
          <a:p>
            <a:r>
              <a:rPr sz="2000" b="0">
                <a:solidFill>
                  <a:srgbClr val="F6FAF7"/>
                </a:solidFill>
                <a:latin typeface="Calibri"/>
              </a:rPr>
              <a:t>Invite Peer Support Members, manage accounts, content, and reports</a:t>
            </a:r>
          </a:p>
        </p:txBody>
      </p:sp>
      <p:sp>
        <p:nvSpPr>
          <p:cNvPr id="7" name="TextBox 6"/>
          <p:cNvSpPr txBox="1"/>
          <p:nvPr/>
        </p:nvSpPr>
        <p:spPr>
          <a:xfrm>
            <a:off x="640080" y="4663440"/>
            <a:ext cx="10972800" cy="548640"/>
          </a:xfrm>
          <a:prstGeom prst="rect">
            <a:avLst/>
          </a:prstGeom>
          <a:noFill/>
        </p:spPr>
        <p:txBody>
          <a:bodyPr wrap="none">
            <a:spAutoFit/>
          </a:bodyPr>
          <a:lstStyle/>
          <a:p>
            <a:r>
              <a:rPr sz="1600" b="0">
                <a:solidFill>
                  <a:srgbClr val="A8C4B8"/>
                </a:solidFill>
                <a:latin typeface="Calibri"/>
              </a:rPr>
              <a:t>For program administrators on admin.mypeerpoint.com</a:t>
            </a:r>
          </a:p>
        </p:txBody>
      </p:sp>
      <p:sp>
        <p:nvSpPr>
          <p:cNvPr id="8" name="TextBox 7"/>
          <p:cNvSpPr txBox="1"/>
          <p:nvPr/>
        </p:nvSpPr>
        <p:spPr>
          <a:xfrm>
            <a:off x="640080" y="5852160"/>
            <a:ext cx="10972800" cy="457200"/>
          </a:xfrm>
          <a:prstGeom prst="rect">
            <a:avLst/>
          </a:prstGeom>
          <a:noFill/>
        </p:spPr>
        <p:txBody>
          <a:bodyPr wrap="none">
            <a:spAutoFit/>
          </a:bodyPr>
          <a:lstStyle/>
          <a:p>
            <a:r>
              <a:rPr sz="1400" b="0">
                <a:solidFill>
                  <a:srgbClr val="FFFFFF"/>
                </a:solidFill>
                <a:latin typeface="Calibri"/>
              </a:rPr>
              <a:t>mypeerpoint.com  ·  admin.mypeerpoint.com</a:t>
            </a:r>
          </a:p>
        </p:txBody>
      </p:sp>
      <p:pic>
        <p:nvPicPr>
          <p:cNvPr id="9" name="01-dc712606ce">
            <a:hlinkClick r:id="" action="ppaction://media"/>
            <a:extLst>
              <a:ext uri="{FF2B5EF4-FFF2-40B4-BE49-F238E27FC236}">
                <a16:creationId xmlns:a16="http://schemas.microsoft.com/office/drawing/2014/main" id="{125E6457-8D8B-5859-33DF-B834671CB45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11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Admin workspace</a:t>
            </a:r>
          </a:p>
        </p:txBody>
      </p:sp>
      <p:pic>
        <p:nvPicPr>
          <p:cNvPr id="6" name="Picture 5" descr="admin-01-workspace.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admin.mypeerpoint.com</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Admin accounts only on this host</a:t>
            </a:r>
          </a:p>
          <a:p>
            <a:pPr>
              <a:spcAft>
                <a:spcPts val="800"/>
              </a:spcAft>
            </a:pPr>
            <a:r>
              <a:rPr sz="1300" b="0">
                <a:solidFill>
                  <a:srgbClr val="1A2E28"/>
                </a:solidFill>
                <a:latin typeface="Calibri"/>
              </a:rPr>
              <a:t>•  Peer Support Members use mypeerpoint.com/staff</a:t>
            </a:r>
          </a:p>
          <a:p>
            <a:pPr>
              <a:spcAft>
                <a:spcPts val="800"/>
              </a:spcAft>
            </a:pPr>
            <a:r>
              <a:rPr sz="1300" b="0">
                <a:solidFill>
                  <a:srgbClr val="1A2E28"/>
                </a:solidFill>
                <a:latin typeface="Calibri"/>
              </a:rPr>
              <a:t>•  Admins inherit staff queue rights</a:t>
            </a:r>
          </a:p>
          <a:p>
            <a:pPr>
              <a:spcAft>
                <a:spcPts val="800"/>
              </a:spcAft>
            </a:pPr>
            <a:r>
              <a:rPr sz="1300" b="0">
                <a:solidFill>
                  <a:srgbClr val="1A2E28"/>
                </a:solidFill>
                <a:latin typeface="Calibri"/>
              </a:rPr>
              <a:t>•  Change seed password after first login</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2/8</a:t>
            </a:r>
          </a:p>
        </p:txBody>
      </p:sp>
      <p:pic>
        <p:nvPicPr>
          <p:cNvPr id="11" name="02-52c8b93dce">
            <a:hlinkClick r:id="" action="ppaction://media"/>
            <a:extLst>
              <a:ext uri="{FF2B5EF4-FFF2-40B4-BE49-F238E27FC236}">
                <a16:creationId xmlns:a16="http://schemas.microsoft.com/office/drawing/2014/main" id="{45D70FCC-CA05-4165-7397-5BE6A5C1D60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5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Members (Peer Support roster)</a:t>
            </a:r>
          </a:p>
        </p:txBody>
      </p:sp>
      <p:pic>
        <p:nvPicPr>
          <p:cNvPr id="6" name="Picture 5" descr="admin-02-members.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Invite + manage Peer Support Members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Invite Staff or Admin Peer Support accounts</a:t>
            </a:r>
          </a:p>
          <a:p>
            <a:pPr>
              <a:spcAft>
                <a:spcPts val="800"/>
              </a:spcAft>
            </a:pPr>
            <a:r>
              <a:rPr sz="1300" b="0">
                <a:solidFill>
                  <a:srgbClr val="1A2E28"/>
                </a:solidFill>
                <a:latin typeface="Calibri"/>
              </a:rPr>
              <a:t>•  Resend / Revoke pending invites</a:t>
            </a:r>
          </a:p>
          <a:p>
            <a:pPr>
              <a:spcAft>
                <a:spcPts val="800"/>
              </a:spcAft>
            </a:pPr>
            <a:r>
              <a:rPr sz="1300" b="0">
                <a:solidFill>
                  <a:srgbClr val="1A2E28"/>
                </a:solidFill>
                <a:latin typeface="Calibri"/>
              </a:rPr>
              <a:t>•  Disable / Enable accounts</a:t>
            </a:r>
          </a:p>
          <a:p>
            <a:pPr>
              <a:spcAft>
                <a:spcPts val="800"/>
              </a:spcAft>
            </a:pPr>
            <a:r>
              <a:rPr sz="1300" b="0">
                <a:solidFill>
                  <a:srgbClr val="1A2E28"/>
                </a:solidFill>
                <a:latin typeface="Calibri"/>
              </a:rPr>
              <a:t>•  Make Leader for coverage alerts</a:t>
            </a:r>
          </a:p>
          <a:p>
            <a:pPr>
              <a:spcAft>
                <a:spcPts val="800"/>
              </a:spcAft>
            </a:pPr>
            <a:r>
              <a:rPr sz="1300" b="0">
                <a:solidFill>
                  <a:srgbClr val="1A2E28"/>
                </a:solidFill>
                <a:latin typeface="Calibri"/>
              </a:rPr>
              <a:t>•  Set Male / Female for matching</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3/8</a:t>
            </a:r>
          </a:p>
        </p:txBody>
      </p:sp>
      <p:pic>
        <p:nvPicPr>
          <p:cNvPr id="11" name="03-9245d725ca">
            <a:hlinkClick r:id="" action="ppaction://media"/>
            <a:extLst>
              <a:ext uri="{FF2B5EF4-FFF2-40B4-BE49-F238E27FC236}">
                <a16:creationId xmlns:a16="http://schemas.microsoft.com/office/drawing/2014/main" id="{24B9DFEB-3037-209F-D085-9299850DD07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65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On Call (Admin)</a:t>
            </a:r>
          </a:p>
        </p:txBody>
      </p:sp>
      <p:pic>
        <p:nvPicPr>
          <p:cNvPr id="6" name="Picture 5" descr="admin-03-on-call.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Schedule any Peer Support Member</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Admins can schedule any Peer Support Member</a:t>
            </a:r>
          </a:p>
          <a:p>
            <a:pPr>
              <a:spcAft>
                <a:spcPts val="800"/>
              </a:spcAft>
            </a:pPr>
            <a:r>
              <a:rPr sz="1300" b="0">
                <a:solidFill>
                  <a:srgbClr val="1A2E28"/>
                </a:solidFill>
                <a:latin typeface="Calibri"/>
              </a:rPr>
              <a:t>•  Require availability acknowledgment</a:t>
            </a:r>
          </a:p>
          <a:p>
            <a:pPr>
              <a:spcAft>
                <a:spcPts val="800"/>
              </a:spcAft>
            </a:pPr>
            <a:r>
              <a:rPr sz="1300" b="0">
                <a:solidFill>
                  <a:srgbClr val="1A2E28"/>
                </a:solidFill>
                <a:latin typeface="Calibri"/>
              </a:rPr>
              <a:t>•  Keep coverage continuous for employees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4/8</a:t>
            </a:r>
          </a:p>
        </p:txBody>
      </p:sp>
      <p:pic>
        <p:nvPicPr>
          <p:cNvPr id="11" name="04-097aba1b07">
            <a:hlinkClick r:id="" action="ppaction://media"/>
            <a:extLst>
              <a:ext uri="{FF2B5EF4-FFF2-40B4-BE49-F238E27FC236}">
                <a16:creationId xmlns:a16="http://schemas.microsoft.com/office/drawing/2014/main" id="{0890AF0D-D4D0-7523-CC04-D02144350D5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8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Requests queue</a:t>
            </a:r>
          </a:p>
        </p:txBody>
      </p:sp>
      <p:pic>
        <p:nvPicPr>
          <p:cNvPr id="6" name="Picture 5" descr="admin-06-requests.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Employee requests + assignment</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Refresh for new employee requests</a:t>
            </a:r>
          </a:p>
          <a:p>
            <a:pPr>
              <a:spcAft>
                <a:spcPts val="800"/>
              </a:spcAft>
            </a:pPr>
            <a:r>
              <a:rPr sz="1300" b="0">
                <a:solidFill>
                  <a:srgbClr val="1A2E28"/>
                </a:solidFill>
                <a:latin typeface="Calibri"/>
              </a:rPr>
              <a:t>•  Assign / accept flows</a:t>
            </a:r>
          </a:p>
          <a:p>
            <a:pPr>
              <a:spcAft>
                <a:spcPts val="800"/>
              </a:spcAft>
            </a:pPr>
            <a:r>
              <a:rPr sz="1300" b="0">
                <a:solidFill>
                  <a:srgbClr val="1A2E28"/>
                </a:solidFill>
                <a:latin typeface="Calibri"/>
              </a:rPr>
              <a:t>•  Close completed requests</a:t>
            </a:r>
          </a:p>
          <a:p>
            <a:pPr>
              <a:spcAft>
                <a:spcPts val="800"/>
              </a:spcAft>
            </a:pPr>
            <a:r>
              <a:rPr sz="1300" b="0">
                <a:solidFill>
                  <a:srgbClr val="1A2E28"/>
                </a:solidFill>
                <a:latin typeface="Calibri"/>
              </a:rPr>
              <a:t>•  Confirm alerts reach Peer Support Members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5/8</a:t>
            </a:r>
          </a:p>
        </p:txBody>
      </p:sp>
      <p:pic>
        <p:nvPicPr>
          <p:cNvPr id="11" name="05-b67fe78a02">
            <a:hlinkClick r:id="" action="ppaction://media"/>
            <a:extLst>
              <a:ext uri="{FF2B5EF4-FFF2-40B4-BE49-F238E27FC236}">
                <a16:creationId xmlns:a16="http://schemas.microsoft.com/office/drawing/2014/main" id="{F63AA3F3-2C17-898F-EBCD-8137F68C755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1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Content</a:t>
            </a:r>
          </a:p>
        </p:txBody>
      </p:sp>
      <p:pic>
        <p:nvPicPr>
          <p:cNvPr id="6" name="Picture 5" descr="admin-04-content.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Self Help + Resources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Edit Self Help articles</a:t>
            </a:r>
          </a:p>
          <a:p>
            <a:pPr>
              <a:spcAft>
                <a:spcPts val="800"/>
              </a:spcAft>
            </a:pPr>
            <a:r>
              <a:rPr sz="1300" b="0">
                <a:solidFill>
                  <a:srgbClr val="1A2E28"/>
                </a:solidFill>
                <a:latin typeface="Calibri"/>
              </a:rPr>
              <a:t>•  Embed video links</a:t>
            </a:r>
          </a:p>
          <a:p>
            <a:pPr>
              <a:spcAft>
                <a:spcPts val="800"/>
              </a:spcAft>
            </a:pPr>
            <a:r>
              <a:rPr sz="1300" b="0">
                <a:solidFill>
                  <a:srgbClr val="1A2E28"/>
                </a:solidFill>
                <a:latin typeface="Calibri"/>
              </a:rPr>
              <a:t>•  Upload Resource Gallery files</a:t>
            </a:r>
          </a:p>
          <a:p>
            <a:pPr>
              <a:spcAft>
                <a:spcPts val="800"/>
              </a:spcAft>
            </a:pPr>
            <a:r>
              <a:rPr sz="1300" b="0">
                <a:solidFill>
                  <a:srgbClr val="1A2E28"/>
                </a:solidFill>
                <a:latin typeface="Calibri"/>
              </a:rPr>
              <a:t>•  Publish or reset built-ins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6/8</a:t>
            </a:r>
          </a:p>
        </p:txBody>
      </p:sp>
      <p:pic>
        <p:nvPicPr>
          <p:cNvPr id="11" name="06-066dc297bc">
            <a:hlinkClick r:id="" action="ppaction://media"/>
            <a:extLst>
              <a:ext uri="{FF2B5EF4-FFF2-40B4-BE49-F238E27FC236}">
                <a16:creationId xmlns:a16="http://schemas.microsoft.com/office/drawing/2014/main" id="{09A2D77C-F041-7115-0E2C-F5E27164FDC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30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Reports</a:t>
            </a:r>
          </a:p>
        </p:txBody>
      </p:sp>
      <p:pic>
        <p:nvPicPr>
          <p:cNvPr id="6" name="Picture 5" descr="admin-05-reports.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Program metrics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Open / assigned / closed totals</a:t>
            </a:r>
          </a:p>
          <a:p>
            <a:pPr>
              <a:spcAft>
                <a:spcPts val="800"/>
              </a:spcAft>
            </a:pPr>
            <a:r>
              <a:rPr sz="1300" b="0">
                <a:solidFill>
                  <a:srgbClr val="1A2E28"/>
                </a:solidFill>
                <a:latin typeface="Calibri"/>
              </a:rPr>
              <a:t>•  Minutes by Peer Support Member</a:t>
            </a:r>
          </a:p>
          <a:p>
            <a:pPr>
              <a:spcAft>
                <a:spcPts val="800"/>
              </a:spcAft>
            </a:pPr>
            <a:r>
              <a:rPr sz="1300" b="0">
                <a:solidFill>
                  <a:srgbClr val="1A2E28"/>
                </a:solidFill>
                <a:latin typeface="Calibri"/>
              </a:rPr>
              <a:t>•  Notes and On Call history</a:t>
            </a:r>
          </a:p>
          <a:p>
            <a:pPr>
              <a:spcAft>
                <a:spcPts val="800"/>
              </a:spcAft>
            </a:pPr>
            <a:r>
              <a:rPr sz="1300" b="0">
                <a:solidFill>
                  <a:srgbClr val="1A2E28"/>
                </a:solidFill>
                <a:latin typeface="Calibri"/>
              </a:rPr>
              <a:t>•  Refresh after staff log time</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7/8</a:t>
            </a:r>
          </a:p>
        </p:txBody>
      </p:sp>
      <p:pic>
        <p:nvPicPr>
          <p:cNvPr id="11" name="07-f9e0de8ff6">
            <a:hlinkClick r:id="" action="ppaction://media"/>
            <a:extLst>
              <a:ext uri="{FF2B5EF4-FFF2-40B4-BE49-F238E27FC236}">
                <a16:creationId xmlns:a16="http://schemas.microsoft.com/office/drawing/2014/main" id="{BE36C149-C9DC-E9B9-C5D8-93BEB9B5F85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6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ADMIN</a:t>
            </a:r>
          </a:p>
          <a:p>
            <a:r>
              <a:rPr sz="2400" b="1">
                <a:solidFill>
                  <a:srgbClr val="FFFFFF"/>
                </a:solidFill>
                <a:latin typeface="Calibri"/>
              </a:rPr>
              <a:t>Admin quick checklist</a:t>
            </a:r>
          </a:p>
        </p:txBody>
      </p:sp>
      <p:sp>
        <p:nvSpPr>
          <p:cNvPr id="6" name="TextBox 5"/>
          <p:cNvSpPr txBox="1"/>
          <p:nvPr/>
        </p:nvSpPr>
        <p:spPr>
          <a:xfrm>
            <a:off x="502920" y="1234440"/>
            <a:ext cx="10972800" cy="5029200"/>
          </a:xfrm>
          <a:prstGeom prst="rect">
            <a:avLst/>
          </a:prstGeom>
          <a:noFill/>
        </p:spPr>
        <p:txBody>
          <a:bodyPr wrap="square">
            <a:spAutoFit/>
          </a:bodyPr>
          <a:lstStyle/>
          <a:p>
            <a:pPr>
              <a:spcAft>
                <a:spcPts val="900"/>
              </a:spcAft>
            </a:pPr>
            <a:r>
              <a:rPr sz="1700" b="0">
                <a:solidFill>
                  <a:srgbClr val="1A2E28"/>
                </a:solidFill>
                <a:latin typeface="Calibri"/>
              </a:rPr>
              <a:t>•  Sign in at admin.mypeerpoint.com.</a:t>
            </a:r>
          </a:p>
          <a:p>
            <a:pPr>
              <a:spcAft>
                <a:spcPts val="900"/>
              </a:spcAft>
            </a:pPr>
            <a:r>
              <a:rPr sz="1700" b="0">
                <a:solidFill>
                  <a:srgbClr val="1A2E28"/>
                </a:solidFill>
                <a:latin typeface="Calibri"/>
              </a:rPr>
              <a:t>•  Invite Peer Support Members / Admins; designate Leaders.</a:t>
            </a:r>
          </a:p>
          <a:p>
            <a:pPr>
              <a:spcAft>
                <a:spcPts val="900"/>
              </a:spcAft>
            </a:pPr>
            <a:r>
              <a:rPr sz="1700" b="0">
                <a:solidFill>
                  <a:srgbClr val="1A2E28"/>
                </a:solidFill>
                <a:latin typeface="Calibri"/>
              </a:rPr>
              <a:t>•  Keep On Call coverage current.</a:t>
            </a:r>
          </a:p>
          <a:p>
            <a:pPr>
              <a:spcAft>
                <a:spcPts val="900"/>
              </a:spcAft>
            </a:pPr>
            <a:r>
              <a:rPr sz="1700" b="0">
                <a:solidFill>
                  <a:srgbClr val="1A2E28"/>
                </a:solidFill>
                <a:latin typeface="Calibri"/>
              </a:rPr>
              <a:t>•  Monitor employee request queue + alert delivery.</a:t>
            </a:r>
          </a:p>
          <a:p>
            <a:pPr>
              <a:spcAft>
                <a:spcPts val="900"/>
              </a:spcAft>
            </a:pPr>
            <a:r>
              <a:rPr sz="1700" b="0">
                <a:solidFill>
                  <a:srgbClr val="1A2E28"/>
                </a:solidFill>
                <a:latin typeface="Calibri"/>
              </a:rPr>
              <a:t>•  Maintain Content; review Reports.</a:t>
            </a:r>
          </a:p>
        </p:txBody>
      </p:sp>
      <p:sp>
        <p:nvSpPr>
          <p:cNvPr id="7" name="TextBox 6"/>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Admin  ·  Emergencies 911 · Crisis 988 · Peer line 801-548-8002  ·  8/8</a:t>
            </a:r>
          </a:p>
        </p:txBody>
      </p:sp>
      <p:pic>
        <p:nvPicPr>
          <p:cNvPr id="8" name="08-c2b3150901">
            <a:hlinkClick r:id="" action="ppaction://media"/>
            <a:extLst>
              <a:ext uri="{FF2B5EF4-FFF2-40B4-BE49-F238E27FC236}">
                <a16:creationId xmlns:a16="http://schemas.microsoft.com/office/drawing/2014/main" id="{F1D7C72F-7BCD-4DA7-A3E2-81D88B4A3AC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99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770</Words>
  <Application>Microsoft Office PowerPoint</Application>
  <PresentationFormat>Widescreen</PresentationFormat>
  <Paragraphs>69</Paragraphs>
  <Slides>8</Slides>
  <Notes>8</Notes>
  <HiddenSlides>0</HiddenSlides>
  <MMClips>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 Smith</cp:lastModifiedBy>
  <cp:revision>2</cp:revision>
  <dcterms:created xsi:type="dcterms:W3CDTF">2013-01-27T09:14:16Z</dcterms:created>
  <dcterms:modified xsi:type="dcterms:W3CDTF">2026-08-15T04:45:02Z</dcterms:modified>
  <cp:category/>
</cp:coreProperties>
</file>