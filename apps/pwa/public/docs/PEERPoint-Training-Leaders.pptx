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498" y="3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690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Peer Point Leader training. Leaders are Peer Support Members with extra coverage responsibilities. You help make sure Sheriff’s Office employees can reach peer support when they need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Leaders have the same day-to-day tools as Peer Support Members — the queue, On Call, chat, and voice. Additionally, Leaders are notified when no free On Call peer is available, or when a peer declines. Admins designate Leaders under Members with Make Leader. Your job is to keep coverage filled and step in when a Sheriff’s Office employee is waiting.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in the staff workspace. Stay Available when you are covering, watch Requests while On Call, and respond quickly when a Sheriff’s Office employee is waiting.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ignore blinking assignment alerts. If you are matched, Accept or Decline promptly. Declines can notify Leaders — find backup coverage or take the request yourself when you can.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Leader designation lives on the Members roster in the Admin site — that roster is Peer Support Members, not Sheriff’s Office employees requesting help. Confirm your Leader flag is set, and help teammates finish registration and phone verify so the team stays ready.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today’s On Call schedule and fill gaps before peak times. Ask Peer Support Members to add blocks, or ask an Admin to schedule coverage when needed.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Leader checklist: confirm your designation; check On Call each shift day; act quickly on gap and decline notifications; step in or find a Peer Support Member when a Sheriff’s Office employee is waiting. Thank you for leading coverage for the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1.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4884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972800" cy="457200"/>
          </a:xfrm>
          <a:prstGeom prst="rect">
            <a:avLst/>
          </a:prstGeom>
          <a:noFill/>
        </p:spPr>
        <p:txBody>
          <a:bodyPr wrap="none">
            <a:spAutoFit/>
          </a:bodyPr>
          <a:lstStyle/>
          <a:p>
            <a:r>
              <a:rPr sz="1400" b="1">
                <a:solidFill>
                  <a:srgbClr val="B45309"/>
                </a:solidFill>
                <a:latin typeface="Calibri"/>
              </a:rPr>
              <a:t>PEERPOINT  ·  SALT LAKE COUNTY SHERIFF'S OFFICE</a:t>
            </a:r>
          </a:p>
        </p:txBody>
      </p:sp>
      <p:sp>
        <p:nvSpPr>
          <p:cNvPr id="5" name="TextBox 4"/>
          <p:cNvSpPr txBox="1"/>
          <p:nvPr/>
        </p:nvSpPr>
        <p:spPr>
          <a:xfrm>
            <a:off x="640080" y="2377440"/>
            <a:ext cx="10972800" cy="1097280"/>
          </a:xfrm>
          <a:prstGeom prst="rect">
            <a:avLst/>
          </a:prstGeom>
          <a:noFill/>
        </p:spPr>
        <p:txBody>
          <a:bodyPr wrap="none">
            <a:spAutoFit/>
          </a:bodyPr>
          <a:lstStyle/>
          <a:p>
            <a:r>
              <a:rPr sz="4000" b="1">
                <a:solidFill>
                  <a:srgbClr val="FFFFFF"/>
                </a:solidFill>
                <a:latin typeface="Calibri"/>
              </a:rPr>
              <a:t>Peer Support Leaders</a:t>
            </a:r>
          </a:p>
        </p:txBody>
      </p:sp>
      <p:sp>
        <p:nvSpPr>
          <p:cNvPr id="6" name="TextBox 5"/>
          <p:cNvSpPr txBox="1"/>
          <p:nvPr/>
        </p:nvSpPr>
        <p:spPr>
          <a:xfrm>
            <a:off x="640080" y="3520440"/>
            <a:ext cx="10972800" cy="731520"/>
          </a:xfrm>
          <a:prstGeom prst="rect">
            <a:avLst/>
          </a:prstGeom>
          <a:noFill/>
        </p:spPr>
        <p:txBody>
          <a:bodyPr wrap="square">
            <a:spAutoFit/>
          </a:bodyPr>
          <a:lstStyle/>
          <a:p>
            <a:r>
              <a:rPr sz="2000" b="0">
                <a:solidFill>
                  <a:srgbClr val="F6FAF7"/>
                </a:solidFill>
                <a:latin typeface="Calibri"/>
              </a:rPr>
              <a:t>Coverage, escalation, and keeping the team ready — with screenshots</a:t>
            </a:r>
          </a:p>
        </p:txBody>
      </p:sp>
      <p:sp>
        <p:nvSpPr>
          <p:cNvPr id="7" name="TextBox 6"/>
          <p:cNvSpPr txBox="1"/>
          <p:nvPr/>
        </p:nvSpPr>
        <p:spPr>
          <a:xfrm>
            <a:off x="640080" y="4663440"/>
            <a:ext cx="10972800" cy="548640"/>
          </a:xfrm>
          <a:prstGeom prst="rect">
            <a:avLst/>
          </a:prstGeom>
          <a:noFill/>
        </p:spPr>
        <p:txBody>
          <a:bodyPr wrap="none">
            <a:spAutoFit/>
          </a:bodyPr>
          <a:lstStyle/>
          <a:p>
            <a:r>
              <a:rPr sz="1600" b="0">
                <a:solidFill>
                  <a:srgbClr val="A8C4B8"/>
                </a:solidFill>
                <a:latin typeface="Calibri"/>
              </a:rPr>
              <a:t>For designated Peer Support Leaders</a:t>
            </a:r>
          </a:p>
        </p:txBody>
      </p:sp>
      <p:sp>
        <p:nvSpPr>
          <p:cNvPr id="8" name="TextBox 7"/>
          <p:cNvSpPr txBox="1"/>
          <p:nvPr/>
        </p:nvSpPr>
        <p:spPr>
          <a:xfrm>
            <a:off x="640080" y="5852160"/>
            <a:ext cx="10972800" cy="457200"/>
          </a:xfrm>
          <a:prstGeom prst="rect">
            <a:avLst/>
          </a:prstGeom>
          <a:noFill/>
        </p:spPr>
        <p:txBody>
          <a:bodyPr wrap="none">
            <a:spAutoFit/>
          </a:bodyPr>
          <a:lstStyle/>
          <a:p>
            <a:r>
              <a:rPr sz="1400" b="0">
                <a:solidFill>
                  <a:srgbClr val="FFFFFF"/>
                </a:solidFill>
                <a:latin typeface="Calibri"/>
              </a:rPr>
              <a:t>mypeerpoint.com  ·  admin.mypeerpoint.com</a:t>
            </a:r>
          </a:p>
        </p:txBody>
      </p:sp>
      <p:pic>
        <p:nvPicPr>
          <p:cNvPr id="9" name="01-2e507a2eb7">
            <a:hlinkClick r:id="" action="ppaction://media"/>
            <a:extLst>
              <a:ext uri="{FF2B5EF4-FFF2-40B4-BE49-F238E27FC236}">
                <a16:creationId xmlns:a16="http://schemas.microsoft.com/office/drawing/2014/main" id="{8EAF0339-2B84-A54F-0CFD-C35E7DF28BC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5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What Leaders do</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Same day-to-day tools as Peer Support Members (queue, On Call, chat/voice).</a:t>
            </a:r>
          </a:p>
          <a:p>
            <a:pPr>
              <a:spcAft>
                <a:spcPts val="900"/>
              </a:spcAft>
            </a:pPr>
            <a:r>
              <a:rPr sz="1700" b="0">
                <a:solidFill>
                  <a:srgbClr val="1A2E28"/>
                </a:solidFill>
                <a:latin typeface="Calibri"/>
              </a:rPr>
              <a:t>•  Extra: notified when coverage gaps happen or peers decline.</a:t>
            </a:r>
          </a:p>
          <a:p>
            <a:pPr>
              <a:spcAft>
                <a:spcPts val="900"/>
              </a:spcAft>
            </a:pPr>
            <a:r>
              <a:rPr sz="1700" b="0">
                <a:solidFill>
                  <a:srgbClr val="1A2E28"/>
                </a:solidFill>
                <a:latin typeface="Calibri"/>
              </a:rPr>
              <a:t>•  Admins designate Leaders under Members (Make Leader).</a:t>
            </a:r>
          </a:p>
          <a:p>
            <a:pPr>
              <a:spcAft>
                <a:spcPts val="900"/>
              </a:spcAft>
            </a:pPr>
            <a:r>
              <a:rPr sz="1700" b="0">
                <a:solidFill>
                  <a:srgbClr val="1A2E28"/>
                </a:solidFill>
                <a:latin typeface="Calibri"/>
              </a:rPr>
              <a:t>•  Help keep On Call filled and step in when employees are waiting.</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2/7</a:t>
            </a:r>
          </a:p>
        </p:txBody>
      </p:sp>
      <p:pic>
        <p:nvPicPr>
          <p:cNvPr id="8" name="02-a7faafbd29">
            <a:hlinkClick r:id="" action="ppaction://media"/>
            <a:extLst>
              <a:ext uri="{FF2B5EF4-FFF2-40B4-BE49-F238E27FC236}">
                <a16:creationId xmlns:a16="http://schemas.microsoft.com/office/drawing/2014/main" id="{5DDD7132-C1A0-32AA-0CF0-6A59CF9EAC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51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Staff workspace (Leaders use this too)</a:t>
            </a:r>
          </a:p>
        </p:txBody>
      </p:sp>
      <p:pic>
        <p:nvPicPr>
          <p:cNvPr id="6" name="Picture 5" descr="leader-01-workspace.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Daily starting point</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Stay Available when covering</a:t>
            </a:r>
          </a:p>
          <a:p>
            <a:pPr>
              <a:spcAft>
                <a:spcPts val="800"/>
              </a:spcAft>
            </a:pPr>
            <a:r>
              <a:rPr sz="1300" b="0">
                <a:solidFill>
                  <a:srgbClr val="1A2E28"/>
                </a:solidFill>
                <a:latin typeface="Calibri"/>
              </a:rPr>
              <a:t>•  Watch Requests while On Call</a:t>
            </a:r>
          </a:p>
          <a:p>
            <a:pPr>
              <a:spcAft>
                <a:spcPts val="800"/>
              </a:spcAft>
            </a:pPr>
            <a:r>
              <a:rPr sz="1300" b="0">
                <a:solidFill>
                  <a:srgbClr val="1A2E28"/>
                </a:solidFill>
                <a:latin typeface="Calibri"/>
              </a:rPr>
              <a:t>•  Respond quickly to waiting employees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3/7</a:t>
            </a:r>
          </a:p>
        </p:txBody>
      </p:sp>
      <p:pic>
        <p:nvPicPr>
          <p:cNvPr id="11" name="03-5d990e5a81">
            <a:hlinkClick r:id="" action="ppaction://media"/>
            <a:extLst>
              <a:ext uri="{FF2B5EF4-FFF2-40B4-BE49-F238E27FC236}">
                <a16:creationId xmlns:a16="http://schemas.microsoft.com/office/drawing/2014/main" id="{A85F423D-D914-EC62-A52C-7533E7DA5F8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Assignment / coverage pressure</a:t>
            </a:r>
          </a:p>
        </p:txBody>
      </p:sp>
      <p:pic>
        <p:nvPicPr>
          <p:cNvPr id="6" name="Picture 5" descr="leader-02-assignment-aler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Don’t ignore blinking alerts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If you are matched — Accept or Decline promptly</a:t>
            </a:r>
          </a:p>
          <a:p>
            <a:pPr>
              <a:spcAft>
                <a:spcPts val="800"/>
              </a:spcAft>
            </a:pPr>
            <a:r>
              <a:rPr sz="1300" b="0">
                <a:solidFill>
                  <a:srgbClr val="1A2E28"/>
                </a:solidFill>
                <a:latin typeface="Calibri"/>
              </a:rPr>
              <a:t>•  Declines can notify Leaders</a:t>
            </a:r>
          </a:p>
          <a:p>
            <a:pPr>
              <a:spcAft>
                <a:spcPts val="800"/>
              </a:spcAft>
            </a:pPr>
            <a:r>
              <a:rPr sz="1300" b="0">
                <a:solidFill>
                  <a:srgbClr val="1A2E28"/>
                </a:solidFill>
                <a:latin typeface="Calibri"/>
              </a:rPr>
              <a:t>•  Find backup coverage when needed</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4/7</a:t>
            </a:r>
          </a:p>
        </p:txBody>
      </p:sp>
      <p:pic>
        <p:nvPicPr>
          <p:cNvPr id="11" name="04-4a3d1a3ac2">
            <a:hlinkClick r:id="" action="ppaction://media"/>
            <a:extLst>
              <a:ext uri="{FF2B5EF4-FFF2-40B4-BE49-F238E27FC236}">
                <a16:creationId xmlns:a16="http://schemas.microsoft.com/office/drawing/2014/main" id="{78952C13-FE1B-2C67-1BB4-9B4391ED827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9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Peer Support Members roster (Admin view)</a:t>
            </a:r>
          </a:p>
        </p:txBody>
      </p:sp>
      <p:pic>
        <p:nvPicPr>
          <p:cNvPr id="6" name="Picture 5" descr="leader-03-members-leaders.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Leader designation lives here</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Admins mark Peer Support Leaders</a:t>
            </a:r>
          </a:p>
          <a:p>
            <a:pPr>
              <a:spcAft>
                <a:spcPts val="800"/>
              </a:spcAft>
            </a:pPr>
            <a:r>
              <a:rPr sz="1300" b="0">
                <a:solidFill>
                  <a:srgbClr val="1A2E28"/>
                </a:solidFill>
                <a:latin typeface="Calibri"/>
              </a:rPr>
              <a:t>•  Confirm your Leader flag is set</a:t>
            </a:r>
          </a:p>
          <a:p>
            <a:pPr>
              <a:spcAft>
                <a:spcPts val="800"/>
              </a:spcAft>
            </a:pPr>
            <a:r>
              <a:rPr sz="1300" b="0">
                <a:solidFill>
                  <a:srgbClr val="1A2E28"/>
                </a:solidFill>
                <a:latin typeface="Calibri"/>
              </a:rPr>
              <a:t>•  Help Peer Support Members finish setup / verify</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5/7</a:t>
            </a:r>
          </a:p>
        </p:txBody>
      </p:sp>
      <p:pic>
        <p:nvPicPr>
          <p:cNvPr id="11" name="05-25c3607657">
            <a:hlinkClick r:id="" action="ppaction://media"/>
            <a:extLst>
              <a:ext uri="{FF2B5EF4-FFF2-40B4-BE49-F238E27FC236}">
                <a16:creationId xmlns:a16="http://schemas.microsoft.com/office/drawing/2014/main" id="{F3BF4CE2-058B-FB7C-0EC7-95C6F9CA0D5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4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On Call coverage</a:t>
            </a:r>
          </a:p>
        </p:txBody>
      </p:sp>
      <p:pic>
        <p:nvPicPr>
          <p:cNvPr id="6" name="Picture 5" descr="leader-04-on-call.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Fill gaps before peak times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Review today’s schedule</a:t>
            </a:r>
          </a:p>
          <a:p>
            <a:pPr>
              <a:spcAft>
                <a:spcPts val="800"/>
              </a:spcAft>
            </a:pPr>
            <a:r>
              <a:rPr sz="1300" b="0">
                <a:solidFill>
                  <a:srgbClr val="1A2E28"/>
                </a:solidFill>
                <a:latin typeface="Calibri"/>
              </a:rPr>
              <a:t>•  Ask Peer Support Members to add blocks</a:t>
            </a:r>
          </a:p>
          <a:p>
            <a:pPr>
              <a:spcAft>
                <a:spcPts val="800"/>
              </a:spcAft>
            </a:pPr>
            <a:r>
              <a:rPr sz="1300" b="0">
                <a:solidFill>
                  <a:srgbClr val="1A2E28"/>
                </a:solidFill>
                <a:latin typeface="Calibri"/>
              </a:rPr>
              <a:t>•  Admins can schedule others if needed</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6/7</a:t>
            </a:r>
          </a:p>
        </p:txBody>
      </p:sp>
      <p:pic>
        <p:nvPicPr>
          <p:cNvPr id="11" name="06-11879ec0ab">
            <a:hlinkClick r:id="" action="ppaction://media"/>
            <a:extLst>
              <a:ext uri="{FF2B5EF4-FFF2-40B4-BE49-F238E27FC236}">
                <a16:creationId xmlns:a16="http://schemas.microsoft.com/office/drawing/2014/main" id="{E3F5A971-EE74-FE12-E1DD-7D64197DBDD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LEADERS</a:t>
            </a:r>
          </a:p>
          <a:p>
            <a:r>
              <a:rPr sz="2400" b="1">
                <a:solidFill>
                  <a:srgbClr val="FFFFFF"/>
                </a:solidFill>
                <a:latin typeface="Calibri"/>
              </a:rPr>
              <a:t>Leader quick checklist</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Confirm Leader designation on the roster.</a:t>
            </a:r>
          </a:p>
          <a:p>
            <a:pPr>
              <a:spcAft>
                <a:spcPts val="900"/>
              </a:spcAft>
            </a:pPr>
            <a:r>
              <a:rPr sz="1700" b="0">
                <a:solidFill>
                  <a:srgbClr val="1A2E28"/>
                </a:solidFill>
                <a:latin typeface="Calibri"/>
              </a:rPr>
              <a:t>•  Check On Call coverage each shift day.</a:t>
            </a:r>
          </a:p>
          <a:p>
            <a:pPr>
              <a:spcAft>
                <a:spcPts val="900"/>
              </a:spcAft>
            </a:pPr>
            <a:r>
              <a:rPr sz="1700" b="0">
                <a:solidFill>
                  <a:srgbClr val="1A2E28"/>
                </a:solidFill>
                <a:latin typeface="Calibri"/>
              </a:rPr>
              <a:t>•  Act on gap / decline notifications quickly.</a:t>
            </a:r>
          </a:p>
          <a:p>
            <a:pPr>
              <a:spcAft>
                <a:spcPts val="900"/>
              </a:spcAft>
            </a:pPr>
            <a:r>
              <a:rPr sz="1700" b="0">
                <a:solidFill>
                  <a:srgbClr val="1A2E28"/>
                </a:solidFill>
                <a:latin typeface="Calibri"/>
              </a:rPr>
              <a:t>•  Step in or find a Peer Support Member when an employee is waiting.</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Leaders  ·  Emergencies 911 · Crisis 988 · Peer line 801-548-8002  ·  7/7</a:t>
            </a:r>
          </a:p>
        </p:txBody>
      </p:sp>
      <p:pic>
        <p:nvPicPr>
          <p:cNvPr id="8" name="07-a7eede8f27">
            <a:hlinkClick r:id="" action="ppaction://media"/>
            <a:extLst>
              <a:ext uri="{FF2B5EF4-FFF2-40B4-BE49-F238E27FC236}">
                <a16:creationId xmlns:a16="http://schemas.microsoft.com/office/drawing/2014/main" id="{E0BB377B-2359-9177-FFCF-D96FE9B0538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3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653</Words>
  <Application>Microsoft Office PowerPoint</Application>
  <PresentationFormat>Widescreen</PresentationFormat>
  <Paragraphs>54</Paragraphs>
  <Slides>7</Slides>
  <Notes>7</Notes>
  <HiddenSlides>0</HiddenSlides>
  <MMClips>7</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 Smith</cp:lastModifiedBy>
  <cp:revision>2</cp:revision>
  <dcterms:created xsi:type="dcterms:W3CDTF">2013-01-27T09:14:16Z</dcterms:created>
  <dcterms:modified xsi:type="dcterms:W3CDTF">2026-08-15T04:44:56Z</dcterms:modified>
  <cp:category/>
</cp:coreProperties>
</file>