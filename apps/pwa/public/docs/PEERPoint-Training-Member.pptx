
<file path=[Content_Types].xml><?xml version="1.0" encoding="utf-8"?>
<Types xmlns="http://schemas.openxmlformats.org/package/2006/content-types">
  <Default Extension="jpe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6" d="100"/>
          <a:sy n="86" d="100"/>
        </p:scale>
        <p:origin x="498" y="3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57644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Peer Point training for Salt Lake County Sheriff’s Office employees. This short guide shows how to unlock the site, request peer support, and use chat or voice. Peer Support Members are the peers who provide that support. Take your time — you can pause and replay any slide.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Peer Point is peer support for Salt Lake County Sheriff’s Office employees. It connects you with Peer Support Members — peers who work within Peer Support to help employees. It is not clinical care, therapy, or emergency services. Chat and voice are not recorded by the agency in this app. If you are in immediate danger, call 911. For crisis support, call or text 988. The peer support line also stays available on the site.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my Peer Point dot com on your phone or computer. The site use code is S L C O S O — S-L-C-O-S-O. Enter that code, then tap Continue. You will need this code each time you open the app, including when it is installed on your home screen. Important: do not give this code to anyone outside the Sheriff’s Office. It is only for current Salt Lake County Sheriff’s Office employees. The code identifies the workplace — it does not identify you personally.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After unlock, you land on Get Help. You can talk to a Peer Support Member now, meet face to face when available, join with a room code, or leave a follow-up request. Phone and email are required so Peer Support can reach you. Your name is optional. Confirm consent that this is peer support — not emergency care — before you submit.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tap Try Modern UI for an updated layout with Home, Resources, Check-ins, and More. It is the same Peer Point. You can switch back anytime.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Choose how you want contact — chat, voice, a form follow-up, or face-to-face. If preferences are offered, you can ask for anyone, a specific Peer Support Member, civilian or sworn, or male or female matching. For immediate chat or voice, stay on the page while an On Call Peer Support Member is notified.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When a room opens, you will see Connected and may wait briefly for a Peer Support Member. If you get disconnected, use the same room code or join link to reconnect. Room codes expire after twenty-four hours with no use.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When a Peer Support Member joins, a blinking banner appears and a soft alert may play. Browsers sometimes block sound until you tap the page once — use Clear notice when you are ready. You can then chat, or switch to voice with the same room code.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Self Help articles are available anytime and work offline. Nothing is sent to a server when you read them. These tools support you — they do not replace 911 or 988 when you need crisis help.</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Resources may include videos, downloads, and coloring pages curated by Admins. Use them alongside peer support whenever you need a quieter grounding option.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Quick checklist for Salt Lake County Sheriff’s Office employees: unlock with the site use code S L C O S O. Remember — do not share that code with anyone outside the Sheriff’s Office. Then request help and submit; wait for a Peer Support Member and watch for the join banner or email or text; use chat or voice and reconnect with the same room code if needed; and use 911 or 988 when crisis care is needed. Thank you for taking a few minutes to learn Peer Point.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mp3"/><Relationship Id="rId1" Type="http://schemas.microsoft.com/office/2007/relationships/media" Target="../media/media2.mp3"/><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1.png"/><Relationship Id="rId5"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1.png"/><Relationship Id="rId5" Type="http://schemas.openxmlformats.org/officeDocument/2006/relationships/image" Target="../media/image4.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1.png"/><Relationship Id="rId5" Type="http://schemas.openxmlformats.org/officeDocument/2006/relationships/image" Target="../media/image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1.png"/><Relationship Id="rId5" Type="http://schemas.openxmlformats.org/officeDocument/2006/relationships/image" Target="../media/image7.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1.png"/><Relationship Id="rId5" Type="http://schemas.openxmlformats.org/officeDocument/2006/relationships/image" Target="../media/image8.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1.png"/><Relationship Id="rId5" Type="http://schemas.openxmlformats.org/officeDocument/2006/relationships/image" Target="../media/image9.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1.png"/><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4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148840"/>
            <a:ext cx="12191695" cy="9144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234440"/>
            <a:ext cx="10972800" cy="457200"/>
          </a:xfrm>
          <a:prstGeom prst="rect">
            <a:avLst/>
          </a:prstGeom>
          <a:noFill/>
        </p:spPr>
        <p:txBody>
          <a:bodyPr wrap="none">
            <a:spAutoFit/>
          </a:bodyPr>
          <a:lstStyle/>
          <a:p>
            <a:r>
              <a:rPr sz="1400" b="1">
                <a:solidFill>
                  <a:srgbClr val="B45309"/>
                </a:solidFill>
                <a:latin typeface="Calibri"/>
              </a:rPr>
              <a:t>PEERPOINT  ·  SALT LAKE COUNTY SHERIFF'S OFFICE</a:t>
            </a:r>
          </a:p>
        </p:txBody>
      </p:sp>
      <p:sp>
        <p:nvSpPr>
          <p:cNvPr id="5" name="TextBox 4"/>
          <p:cNvSpPr txBox="1"/>
          <p:nvPr/>
        </p:nvSpPr>
        <p:spPr>
          <a:xfrm>
            <a:off x="640080" y="2377440"/>
            <a:ext cx="10972800" cy="1097280"/>
          </a:xfrm>
          <a:prstGeom prst="rect">
            <a:avLst/>
          </a:prstGeom>
          <a:noFill/>
        </p:spPr>
        <p:txBody>
          <a:bodyPr wrap="none">
            <a:spAutoFit/>
          </a:bodyPr>
          <a:lstStyle/>
          <a:p>
            <a:r>
              <a:rPr sz="4000" b="1">
                <a:solidFill>
                  <a:srgbClr val="FFFFFF"/>
                </a:solidFill>
                <a:latin typeface="Calibri"/>
              </a:rPr>
              <a:t>Employee training</a:t>
            </a:r>
          </a:p>
        </p:txBody>
      </p:sp>
      <p:sp>
        <p:nvSpPr>
          <p:cNvPr id="6" name="TextBox 5"/>
          <p:cNvSpPr txBox="1"/>
          <p:nvPr/>
        </p:nvSpPr>
        <p:spPr>
          <a:xfrm>
            <a:off x="640080" y="3520440"/>
            <a:ext cx="10972800" cy="731520"/>
          </a:xfrm>
          <a:prstGeom prst="rect">
            <a:avLst/>
          </a:prstGeom>
          <a:noFill/>
        </p:spPr>
        <p:txBody>
          <a:bodyPr wrap="square">
            <a:spAutoFit/>
          </a:bodyPr>
          <a:lstStyle/>
          <a:p>
            <a:r>
              <a:rPr sz="2000" b="0">
                <a:solidFill>
                  <a:srgbClr val="F6FAF7"/>
                </a:solidFill>
                <a:latin typeface="Calibri"/>
              </a:rPr>
              <a:t>How to request peer support and use Peer Point — with screenshots</a:t>
            </a:r>
          </a:p>
        </p:txBody>
      </p:sp>
      <p:sp>
        <p:nvSpPr>
          <p:cNvPr id="7" name="TextBox 6"/>
          <p:cNvSpPr txBox="1"/>
          <p:nvPr/>
        </p:nvSpPr>
        <p:spPr>
          <a:xfrm>
            <a:off x="640080" y="4663440"/>
            <a:ext cx="10972800" cy="548640"/>
          </a:xfrm>
          <a:prstGeom prst="rect">
            <a:avLst/>
          </a:prstGeom>
          <a:noFill/>
        </p:spPr>
        <p:txBody>
          <a:bodyPr wrap="none">
            <a:spAutoFit/>
          </a:bodyPr>
          <a:lstStyle/>
          <a:p>
            <a:r>
              <a:rPr sz="1600" b="0">
                <a:solidFill>
                  <a:srgbClr val="A8C4B8"/>
                </a:solidFill>
                <a:latin typeface="Calibri"/>
              </a:rPr>
              <a:t>For Salt Lake County Sheriff’s Office employees requesting confidential peer support</a:t>
            </a:r>
          </a:p>
        </p:txBody>
      </p:sp>
      <p:sp>
        <p:nvSpPr>
          <p:cNvPr id="8" name="TextBox 7"/>
          <p:cNvSpPr txBox="1"/>
          <p:nvPr/>
        </p:nvSpPr>
        <p:spPr>
          <a:xfrm>
            <a:off x="640080" y="5852160"/>
            <a:ext cx="10972800" cy="457200"/>
          </a:xfrm>
          <a:prstGeom prst="rect">
            <a:avLst/>
          </a:prstGeom>
          <a:noFill/>
        </p:spPr>
        <p:txBody>
          <a:bodyPr wrap="none">
            <a:spAutoFit/>
          </a:bodyPr>
          <a:lstStyle/>
          <a:p>
            <a:r>
              <a:rPr sz="1400" b="0">
                <a:solidFill>
                  <a:srgbClr val="FFFFFF"/>
                </a:solidFill>
                <a:latin typeface="Calibri"/>
              </a:rPr>
              <a:t>mypeerpoint.com  ·  admin.mypeerpoint.com</a:t>
            </a:r>
          </a:p>
        </p:txBody>
      </p:sp>
      <p:pic>
        <p:nvPicPr>
          <p:cNvPr id="9" name="01-a127216712">
            <a:hlinkClick r:id="" action="ppaction://media"/>
            <a:extLst>
              <a:ext uri="{FF2B5EF4-FFF2-40B4-BE49-F238E27FC236}">
                <a16:creationId xmlns:a16="http://schemas.microsoft.com/office/drawing/2014/main" id="{FB245F24-E890-F4FB-7485-BE3E79D86431}"/>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52400" y="6477000"/>
            <a:ext cx="279400" cy="279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0736"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0F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46304"/>
            <a:ext cx="11155680" cy="777240"/>
          </a:xfrm>
          <a:prstGeom prst="rect">
            <a:avLst/>
          </a:prstGeom>
          <a:noFill/>
        </p:spPr>
        <p:txBody>
          <a:bodyPr wrap="square">
            <a:spAutoFit/>
          </a:bodyPr>
          <a:lstStyle/>
          <a:p>
            <a:r>
              <a:rPr sz="1100" b="1">
                <a:solidFill>
                  <a:srgbClr val="FFFFFF"/>
                </a:solidFill>
                <a:latin typeface="Calibri"/>
              </a:rPr>
              <a:t>PEERPOINT · EMPLOYEE</a:t>
            </a:r>
          </a:p>
          <a:p>
            <a:r>
              <a:rPr sz="2400" b="1">
                <a:solidFill>
                  <a:srgbClr val="FFFFFF"/>
                </a:solidFill>
                <a:latin typeface="Calibri"/>
              </a:rPr>
              <a:t>What Peer Point is (and is not)</a:t>
            </a:r>
          </a:p>
        </p:txBody>
      </p:sp>
      <p:sp>
        <p:nvSpPr>
          <p:cNvPr id="6" name="TextBox 5"/>
          <p:cNvSpPr txBox="1"/>
          <p:nvPr/>
        </p:nvSpPr>
        <p:spPr>
          <a:xfrm>
            <a:off x="502920" y="1234440"/>
            <a:ext cx="10972800" cy="5029200"/>
          </a:xfrm>
          <a:prstGeom prst="rect">
            <a:avLst/>
          </a:prstGeom>
          <a:noFill/>
        </p:spPr>
        <p:txBody>
          <a:bodyPr wrap="square">
            <a:spAutoFit/>
          </a:bodyPr>
          <a:lstStyle/>
          <a:p>
            <a:pPr>
              <a:spcAft>
                <a:spcPts val="900"/>
              </a:spcAft>
            </a:pPr>
            <a:r>
              <a:rPr sz="1700" b="0">
                <a:solidFill>
                  <a:srgbClr val="1A2E28"/>
                </a:solidFill>
                <a:latin typeface="Calibri"/>
              </a:rPr>
              <a:t>•  Peer Point connects Salt Lake County Sheriff’s Office employees with Peer Support Members.</a:t>
            </a:r>
          </a:p>
          <a:p>
            <a:pPr>
              <a:spcAft>
                <a:spcPts val="900"/>
              </a:spcAft>
            </a:pPr>
            <a:r>
              <a:rPr sz="1700" b="0">
                <a:solidFill>
                  <a:srgbClr val="1A2E28"/>
                </a:solidFill>
                <a:latin typeface="Calibri"/>
              </a:rPr>
              <a:t>•  Peer Support Members are peers who work in the Peer Support program to help employees.</a:t>
            </a:r>
          </a:p>
          <a:p>
            <a:pPr>
              <a:spcAft>
                <a:spcPts val="900"/>
              </a:spcAft>
            </a:pPr>
            <a:r>
              <a:rPr sz="1700" b="0">
                <a:solidFill>
                  <a:srgbClr val="1A2E28"/>
                </a:solidFill>
                <a:latin typeface="Calibri"/>
              </a:rPr>
              <a:t>•  It is not clinical care, therapy, or emergency services.</a:t>
            </a:r>
          </a:p>
          <a:p>
            <a:pPr>
              <a:spcAft>
                <a:spcPts val="900"/>
              </a:spcAft>
            </a:pPr>
            <a:r>
              <a:rPr sz="1700" b="0">
                <a:solidFill>
                  <a:srgbClr val="1A2E28"/>
                </a:solidFill>
                <a:latin typeface="Calibri"/>
              </a:rPr>
              <a:t>•  Chat and voice are not recorded by the agency in this app.</a:t>
            </a:r>
          </a:p>
          <a:p>
            <a:pPr>
              <a:spcAft>
                <a:spcPts val="900"/>
              </a:spcAft>
            </a:pPr>
            <a:r>
              <a:rPr sz="1700" b="0">
                <a:solidFill>
                  <a:srgbClr val="1A2E28"/>
                </a:solidFill>
                <a:latin typeface="Calibri"/>
              </a:rPr>
              <a:t>•  Crisis help stays visible: 988, 911, and the peer support line.</a:t>
            </a:r>
          </a:p>
        </p:txBody>
      </p:sp>
      <p:sp>
        <p:nvSpPr>
          <p:cNvPr id="7" name="TextBox 6"/>
          <p:cNvSpPr txBox="1"/>
          <p:nvPr/>
        </p:nvSpPr>
        <p:spPr>
          <a:xfrm>
            <a:off x="411480" y="6492240"/>
            <a:ext cx="11155680" cy="274320"/>
          </a:xfrm>
          <a:prstGeom prst="rect">
            <a:avLst/>
          </a:prstGeom>
          <a:noFill/>
        </p:spPr>
        <p:txBody>
          <a:bodyPr wrap="none">
            <a:spAutoFit/>
          </a:bodyPr>
          <a:lstStyle/>
          <a:p>
            <a:r>
              <a:rPr sz="1000" b="0">
                <a:solidFill>
                  <a:srgbClr val="4A5C56"/>
                </a:solidFill>
                <a:latin typeface="Calibri"/>
              </a:rPr>
              <a:t>PEERPoint · Employee  ·  Emergencies 911 · Crisis 988 · Peer line 801-548-8002  ·  2/11</a:t>
            </a:r>
          </a:p>
        </p:txBody>
      </p:sp>
      <p:pic>
        <p:nvPicPr>
          <p:cNvPr id="8" name="02-eaa21b6887">
            <a:hlinkClick r:id="" action="ppaction://media"/>
            <a:extLst>
              <a:ext uri="{FF2B5EF4-FFF2-40B4-BE49-F238E27FC236}">
                <a16:creationId xmlns:a16="http://schemas.microsoft.com/office/drawing/2014/main" id="{1E702489-5D46-E309-F991-22B5390FA69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52400" y="6477000"/>
            <a:ext cx="279400" cy="279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768"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0F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46304"/>
            <a:ext cx="11155680" cy="777240"/>
          </a:xfrm>
          <a:prstGeom prst="rect">
            <a:avLst/>
          </a:prstGeom>
          <a:noFill/>
        </p:spPr>
        <p:txBody>
          <a:bodyPr wrap="square">
            <a:spAutoFit/>
          </a:bodyPr>
          <a:lstStyle/>
          <a:p>
            <a:r>
              <a:rPr sz="1100" b="1">
                <a:solidFill>
                  <a:srgbClr val="FFFFFF"/>
                </a:solidFill>
                <a:latin typeface="Calibri"/>
              </a:rPr>
              <a:t>PEERPOINT · EMPLOYEE</a:t>
            </a:r>
          </a:p>
          <a:p>
            <a:r>
              <a:rPr sz="2400" b="1">
                <a:solidFill>
                  <a:srgbClr val="FFFFFF"/>
                </a:solidFill>
                <a:latin typeface="Calibri"/>
              </a:rPr>
              <a:t>Step 1 — Unlock the site</a:t>
            </a:r>
          </a:p>
        </p:txBody>
      </p:sp>
      <p:pic>
        <p:nvPicPr>
          <p:cNvPr id="6" name="Picture 5" descr="member-01-site-use-code.png"/>
          <p:cNvPicPr>
            <a:picLocks noChangeAspect="1"/>
          </p:cNvPicPr>
          <p:nvPr/>
        </p:nvPicPr>
        <p:blipFill>
          <a:blip r:embed="rId5"/>
          <a:stretch>
            <a:fillRect/>
          </a:stretch>
        </p:blipFill>
        <p:spPr>
          <a:xfrm>
            <a:off x="365760" y="1188720"/>
            <a:ext cx="6858000" cy="4822031"/>
          </a:xfrm>
          <a:prstGeom prst="rect">
            <a:avLst/>
          </a:prstGeom>
        </p:spPr>
      </p:pic>
      <p:sp>
        <p:nvSpPr>
          <p:cNvPr id="7" name="Rounded Rectangle 6"/>
          <p:cNvSpPr/>
          <p:nvPr/>
        </p:nvSpPr>
        <p:spPr>
          <a:xfrm>
            <a:off x="7452360" y="1188720"/>
            <a:ext cx="4297680" cy="4937760"/>
          </a:xfrm>
          <a:prstGeom prst="roundRect">
            <a:avLst/>
          </a:prstGeom>
          <a:solidFill>
            <a:srgbClr val="FFFFFF"/>
          </a:solidFill>
          <a:ln>
            <a:solidFill>
              <a:srgbClr val="0F6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0" y="1371600"/>
            <a:ext cx="3840480" cy="822960"/>
          </a:xfrm>
          <a:prstGeom prst="rect">
            <a:avLst/>
          </a:prstGeom>
          <a:noFill/>
        </p:spPr>
        <p:txBody>
          <a:bodyPr wrap="square">
            <a:spAutoFit/>
          </a:bodyPr>
          <a:lstStyle/>
          <a:p>
            <a:r>
              <a:rPr sz="1500" b="1">
                <a:solidFill>
                  <a:srgbClr val="0F6A4A"/>
                </a:solidFill>
                <a:latin typeface="Calibri"/>
              </a:rPr>
              <a:t>Site use code: slcoso</a:t>
            </a:r>
          </a:p>
        </p:txBody>
      </p:sp>
      <p:sp>
        <p:nvSpPr>
          <p:cNvPr id="9" name="TextBox 8"/>
          <p:cNvSpPr txBox="1"/>
          <p:nvPr/>
        </p:nvSpPr>
        <p:spPr>
          <a:xfrm>
            <a:off x="7680960" y="2286000"/>
            <a:ext cx="3840480" cy="3566160"/>
          </a:xfrm>
          <a:prstGeom prst="rect">
            <a:avLst/>
          </a:prstGeom>
          <a:noFill/>
        </p:spPr>
        <p:txBody>
          <a:bodyPr wrap="square">
            <a:spAutoFit/>
          </a:bodyPr>
          <a:lstStyle/>
          <a:p>
            <a:pPr>
              <a:spcAft>
                <a:spcPts val="800"/>
              </a:spcAft>
            </a:pPr>
            <a:r>
              <a:rPr sz="1300" b="0">
                <a:solidFill>
                  <a:srgbClr val="1A2E28"/>
                </a:solidFill>
                <a:latin typeface="Calibri"/>
              </a:rPr>
              <a:t>•  Open https://mypeerpoint.com</a:t>
            </a:r>
          </a:p>
          <a:p>
            <a:pPr>
              <a:spcAft>
                <a:spcPts val="800"/>
              </a:spcAft>
            </a:pPr>
            <a:r>
              <a:rPr sz="1300" b="0">
                <a:solidFill>
                  <a:srgbClr val="1A2E28"/>
                </a:solidFill>
                <a:latin typeface="Calibri"/>
              </a:rPr>
              <a:t>•  Site use code: slcoso</a:t>
            </a:r>
          </a:p>
          <a:p>
            <a:pPr>
              <a:spcAft>
                <a:spcPts val="800"/>
              </a:spcAft>
            </a:pPr>
            <a:r>
              <a:rPr sz="1300" b="0">
                <a:solidFill>
                  <a:srgbClr val="1A2E28"/>
                </a:solidFill>
                <a:latin typeface="Calibri"/>
              </a:rPr>
              <a:t>•  Enter the code, then tap Continue</a:t>
            </a:r>
          </a:p>
          <a:p>
            <a:pPr>
              <a:spcAft>
                <a:spcPts val="800"/>
              </a:spcAft>
            </a:pPr>
            <a:r>
              <a:rPr sz="1300" b="0">
                <a:solidFill>
                  <a:srgbClr val="1A2E28"/>
                </a:solidFill>
                <a:latin typeface="Calibri"/>
              </a:rPr>
              <a:t>•  Required each time you open the app</a:t>
            </a:r>
          </a:p>
          <a:p>
            <a:pPr>
              <a:spcAft>
                <a:spcPts val="800"/>
              </a:spcAft>
            </a:pPr>
            <a:r>
              <a:rPr sz="1300" b="0">
                <a:solidFill>
                  <a:srgbClr val="1A2E28"/>
                </a:solidFill>
                <a:latin typeface="Calibri"/>
              </a:rPr>
              <a:t>•  Do NOT share this code outside the Sheriff’s Office</a:t>
            </a:r>
          </a:p>
        </p:txBody>
      </p:sp>
      <p:sp>
        <p:nvSpPr>
          <p:cNvPr id="10" name="TextBox 9"/>
          <p:cNvSpPr txBox="1"/>
          <p:nvPr/>
        </p:nvSpPr>
        <p:spPr>
          <a:xfrm>
            <a:off x="411480" y="6492240"/>
            <a:ext cx="11155680" cy="274320"/>
          </a:xfrm>
          <a:prstGeom prst="rect">
            <a:avLst/>
          </a:prstGeom>
          <a:noFill/>
        </p:spPr>
        <p:txBody>
          <a:bodyPr wrap="none">
            <a:spAutoFit/>
          </a:bodyPr>
          <a:lstStyle/>
          <a:p>
            <a:r>
              <a:rPr sz="1000" b="0">
                <a:solidFill>
                  <a:srgbClr val="4A5C56"/>
                </a:solidFill>
                <a:latin typeface="Calibri"/>
              </a:rPr>
              <a:t>PEERPoint · Employee  ·  Emergencies 911 · Crisis 988 · Peer line 801-548-8002  ·  3/11</a:t>
            </a:r>
          </a:p>
        </p:txBody>
      </p:sp>
      <p:pic>
        <p:nvPicPr>
          <p:cNvPr id="11" name="03-bc1aeeaf9a">
            <a:hlinkClick r:id="" action="ppaction://media"/>
            <a:extLst>
              <a:ext uri="{FF2B5EF4-FFF2-40B4-BE49-F238E27FC236}">
                <a16:creationId xmlns:a16="http://schemas.microsoft.com/office/drawing/2014/main" id="{537ADF74-EDB7-B99B-376E-E5D701879C7A}"/>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52400" y="6477000"/>
            <a:ext cx="279400" cy="279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64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0F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46304"/>
            <a:ext cx="11155680" cy="777240"/>
          </a:xfrm>
          <a:prstGeom prst="rect">
            <a:avLst/>
          </a:prstGeom>
          <a:noFill/>
        </p:spPr>
        <p:txBody>
          <a:bodyPr wrap="square">
            <a:spAutoFit/>
          </a:bodyPr>
          <a:lstStyle/>
          <a:p>
            <a:r>
              <a:rPr sz="1100" b="1">
                <a:solidFill>
                  <a:srgbClr val="FFFFFF"/>
                </a:solidFill>
                <a:latin typeface="Calibri"/>
              </a:rPr>
              <a:t>PEERPOINT · EMPLOYEE</a:t>
            </a:r>
          </a:p>
          <a:p>
            <a:r>
              <a:rPr sz="2400" b="1">
                <a:solidFill>
                  <a:srgbClr val="FFFFFF"/>
                </a:solidFill>
                <a:latin typeface="Calibri"/>
              </a:rPr>
              <a:t>Step 2 — Home / Get Help</a:t>
            </a:r>
          </a:p>
        </p:txBody>
      </p:sp>
      <p:pic>
        <p:nvPicPr>
          <p:cNvPr id="6" name="Picture 5" descr="member-02-home-request.png"/>
          <p:cNvPicPr>
            <a:picLocks noChangeAspect="1"/>
          </p:cNvPicPr>
          <p:nvPr/>
        </p:nvPicPr>
        <p:blipFill>
          <a:blip r:embed="rId5"/>
          <a:stretch>
            <a:fillRect/>
          </a:stretch>
        </p:blipFill>
        <p:spPr>
          <a:xfrm>
            <a:off x="365760" y="1188720"/>
            <a:ext cx="6858000" cy="4822031"/>
          </a:xfrm>
          <a:prstGeom prst="rect">
            <a:avLst/>
          </a:prstGeom>
        </p:spPr>
      </p:pic>
      <p:sp>
        <p:nvSpPr>
          <p:cNvPr id="7" name="Rounded Rectangle 6"/>
          <p:cNvSpPr/>
          <p:nvPr/>
        </p:nvSpPr>
        <p:spPr>
          <a:xfrm>
            <a:off x="7452360" y="1188720"/>
            <a:ext cx="4297680" cy="4937760"/>
          </a:xfrm>
          <a:prstGeom prst="roundRect">
            <a:avLst/>
          </a:prstGeom>
          <a:solidFill>
            <a:srgbClr val="FFFFFF"/>
          </a:solidFill>
          <a:ln>
            <a:solidFill>
              <a:srgbClr val="0F6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0" y="1371600"/>
            <a:ext cx="3840480" cy="822960"/>
          </a:xfrm>
          <a:prstGeom prst="rect">
            <a:avLst/>
          </a:prstGeom>
          <a:noFill/>
        </p:spPr>
        <p:txBody>
          <a:bodyPr wrap="square">
            <a:spAutoFit/>
          </a:bodyPr>
          <a:lstStyle/>
          <a:p>
            <a:r>
              <a:rPr sz="1500" b="1">
                <a:solidFill>
                  <a:srgbClr val="0F6A4A"/>
                </a:solidFill>
                <a:latin typeface="Calibri"/>
              </a:rPr>
              <a:t>Request peer support</a:t>
            </a:r>
          </a:p>
        </p:txBody>
      </p:sp>
      <p:sp>
        <p:nvSpPr>
          <p:cNvPr id="9" name="TextBox 8"/>
          <p:cNvSpPr txBox="1"/>
          <p:nvPr/>
        </p:nvSpPr>
        <p:spPr>
          <a:xfrm>
            <a:off x="7680960" y="2286000"/>
            <a:ext cx="3840480" cy="3566160"/>
          </a:xfrm>
          <a:prstGeom prst="rect">
            <a:avLst/>
          </a:prstGeom>
          <a:noFill/>
        </p:spPr>
        <p:txBody>
          <a:bodyPr wrap="square">
            <a:spAutoFit/>
          </a:bodyPr>
          <a:lstStyle/>
          <a:p>
            <a:pPr>
              <a:spcAft>
                <a:spcPts val="800"/>
              </a:spcAft>
            </a:pPr>
            <a:r>
              <a:rPr sz="1300" b="0">
                <a:solidFill>
                  <a:srgbClr val="1A2E28"/>
                </a:solidFill>
                <a:latin typeface="Calibri"/>
              </a:rPr>
              <a:t>•  Choose Talk to a peer now or leave a follow-up request</a:t>
            </a:r>
          </a:p>
          <a:p>
            <a:pPr>
              <a:spcAft>
                <a:spcPts val="800"/>
              </a:spcAft>
            </a:pPr>
            <a:r>
              <a:rPr sz="1300" b="0">
                <a:solidFill>
                  <a:srgbClr val="1A2E28"/>
                </a:solidFill>
                <a:latin typeface="Calibri"/>
              </a:rPr>
              <a:t>•  Phone + email are required</a:t>
            </a:r>
          </a:p>
          <a:p>
            <a:pPr>
              <a:spcAft>
                <a:spcPts val="800"/>
              </a:spcAft>
            </a:pPr>
            <a:r>
              <a:rPr sz="1300" b="0">
                <a:solidFill>
                  <a:srgbClr val="1A2E28"/>
                </a:solidFill>
                <a:latin typeface="Calibri"/>
              </a:rPr>
              <a:t>•  Name is optional</a:t>
            </a:r>
          </a:p>
          <a:p>
            <a:pPr>
              <a:spcAft>
                <a:spcPts val="800"/>
              </a:spcAft>
            </a:pPr>
            <a:r>
              <a:rPr sz="1300" b="0">
                <a:solidFill>
                  <a:srgbClr val="1A2E28"/>
                </a:solidFill>
                <a:latin typeface="Calibri"/>
              </a:rPr>
              <a:t>•  Confirm consent before submit</a:t>
            </a:r>
          </a:p>
        </p:txBody>
      </p:sp>
      <p:sp>
        <p:nvSpPr>
          <p:cNvPr id="10" name="TextBox 9"/>
          <p:cNvSpPr txBox="1"/>
          <p:nvPr/>
        </p:nvSpPr>
        <p:spPr>
          <a:xfrm>
            <a:off x="411480" y="6492240"/>
            <a:ext cx="11155680" cy="274320"/>
          </a:xfrm>
          <a:prstGeom prst="rect">
            <a:avLst/>
          </a:prstGeom>
          <a:noFill/>
        </p:spPr>
        <p:txBody>
          <a:bodyPr wrap="none">
            <a:spAutoFit/>
          </a:bodyPr>
          <a:lstStyle/>
          <a:p>
            <a:r>
              <a:rPr sz="1000" b="0">
                <a:solidFill>
                  <a:srgbClr val="4A5C56"/>
                </a:solidFill>
                <a:latin typeface="Calibri"/>
              </a:rPr>
              <a:t>PEERPoint · Employee  ·  Emergencies 911 · Crisis 988 · Peer line 801-548-8002  ·  4/11</a:t>
            </a:r>
          </a:p>
        </p:txBody>
      </p:sp>
      <p:pic>
        <p:nvPicPr>
          <p:cNvPr id="11" name="04-b19e1ba8cc">
            <a:hlinkClick r:id="" action="ppaction://media"/>
            <a:extLst>
              <a:ext uri="{FF2B5EF4-FFF2-40B4-BE49-F238E27FC236}">
                <a16:creationId xmlns:a16="http://schemas.microsoft.com/office/drawing/2014/main" id="{6B1F4394-F612-C8BA-18C7-8AFFAD825D92}"/>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52400" y="6477000"/>
            <a:ext cx="279400" cy="279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3712"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0F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46304"/>
            <a:ext cx="11155680" cy="777240"/>
          </a:xfrm>
          <a:prstGeom prst="rect">
            <a:avLst/>
          </a:prstGeom>
          <a:noFill/>
        </p:spPr>
        <p:txBody>
          <a:bodyPr wrap="square">
            <a:spAutoFit/>
          </a:bodyPr>
          <a:lstStyle/>
          <a:p>
            <a:r>
              <a:rPr sz="1100" b="1">
                <a:solidFill>
                  <a:srgbClr val="FFFFFF"/>
                </a:solidFill>
                <a:latin typeface="Calibri"/>
              </a:rPr>
              <a:t>PEERPOINT · EMPLOYEE</a:t>
            </a:r>
          </a:p>
          <a:p>
            <a:r>
              <a:rPr sz="2400" b="1">
                <a:solidFill>
                  <a:srgbClr val="FFFFFF"/>
                </a:solidFill>
                <a:latin typeface="Calibri"/>
              </a:rPr>
              <a:t>Modern Home (optional)</a:t>
            </a:r>
          </a:p>
        </p:txBody>
      </p:sp>
      <p:pic>
        <p:nvPicPr>
          <p:cNvPr id="6" name="Picture 5" descr="member-02b-modern-home.png"/>
          <p:cNvPicPr>
            <a:picLocks noChangeAspect="1"/>
          </p:cNvPicPr>
          <p:nvPr/>
        </p:nvPicPr>
        <p:blipFill>
          <a:blip r:embed="rId5"/>
          <a:stretch>
            <a:fillRect/>
          </a:stretch>
        </p:blipFill>
        <p:spPr>
          <a:xfrm>
            <a:off x="365760" y="1188720"/>
            <a:ext cx="6858000" cy="4822031"/>
          </a:xfrm>
          <a:prstGeom prst="rect">
            <a:avLst/>
          </a:prstGeom>
        </p:spPr>
      </p:pic>
      <p:sp>
        <p:nvSpPr>
          <p:cNvPr id="7" name="Rounded Rectangle 6"/>
          <p:cNvSpPr/>
          <p:nvPr/>
        </p:nvSpPr>
        <p:spPr>
          <a:xfrm>
            <a:off x="7452360" y="1188720"/>
            <a:ext cx="4297680" cy="4937760"/>
          </a:xfrm>
          <a:prstGeom prst="roundRect">
            <a:avLst/>
          </a:prstGeom>
          <a:solidFill>
            <a:srgbClr val="FFFFFF"/>
          </a:solidFill>
          <a:ln>
            <a:solidFill>
              <a:srgbClr val="0F6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0" y="1371600"/>
            <a:ext cx="3840480" cy="822960"/>
          </a:xfrm>
          <a:prstGeom prst="rect">
            <a:avLst/>
          </a:prstGeom>
          <a:noFill/>
        </p:spPr>
        <p:txBody>
          <a:bodyPr wrap="square">
            <a:spAutoFit/>
          </a:bodyPr>
          <a:lstStyle/>
          <a:p>
            <a:r>
              <a:rPr sz="1500" b="1">
                <a:solidFill>
                  <a:srgbClr val="0F6A4A"/>
                </a:solidFill>
                <a:latin typeface="Calibri"/>
              </a:rPr>
              <a:t>Try Modern UI</a:t>
            </a:r>
          </a:p>
        </p:txBody>
      </p:sp>
      <p:sp>
        <p:nvSpPr>
          <p:cNvPr id="9" name="TextBox 8"/>
          <p:cNvSpPr txBox="1"/>
          <p:nvPr/>
        </p:nvSpPr>
        <p:spPr>
          <a:xfrm>
            <a:off x="7680960" y="2286000"/>
            <a:ext cx="3840480" cy="3566160"/>
          </a:xfrm>
          <a:prstGeom prst="rect">
            <a:avLst/>
          </a:prstGeom>
          <a:noFill/>
        </p:spPr>
        <p:txBody>
          <a:bodyPr wrap="square">
            <a:spAutoFit/>
          </a:bodyPr>
          <a:lstStyle/>
          <a:p>
            <a:pPr>
              <a:spcAft>
                <a:spcPts val="800"/>
              </a:spcAft>
            </a:pPr>
            <a:r>
              <a:rPr sz="1300" b="0">
                <a:solidFill>
                  <a:srgbClr val="1A2E28"/>
                </a:solidFill>
                <a:latin typeface="Calibri"/>
              </a:rPr>
              <a:t>•  Same Peer Point — updated layout</a:t>
            </a:r>
          </a:p>
          <a:p>
            <a:pPr>
              <a:spcAft>
                <a:spcPts val="800"/>
              </a:spcAft>
            </a:pPr>
            <a:r>
              <a:rPr sz="1300" b="0">
                <a:solidFill>
                  <a:srgbClr val="1A2E28"/>
                </a:solidFill>
                <a:latin typeface="Calibri"/>
              </a:rPr>
              <a:t>•  Home, Resources, Check-ins, More</a:t>
            </a:r>
          </a:p>
          <a:p>
            <a:pPr>
              <a:spcAft>
                <a:spcPts val="800"/>
              </a:spcAft>
            </a:pPr>
            <a:r>
              <a:rPr sz="1300" b="0">
                <a:solidFill>
                  <a:srgbClr val="1A2E28"/>
                </a:solidFill>
                <a:latin typeface="Calibri"/>
              </a:rPr>
              <a:t>•  Request Help starts from here</a:t>
            </a:r>
          </a:p>
        </p:txBody>
      </p:sp>
      <p:sp>
        <p:nvSpPr>
          <p:cNvPr id="10" name="TextBox 9"/>
          <p:cNvSpPr txBox="1"/>
          <p:nvPr/>
        </p:nvSpPr>
        <p:spPr>
          <a:xfrm>
            <a:off x="411480" y="6492240"/>
            <a:ext cx="11155680" cy="274320"/>
          </a:xfrm>
          <a:prstGeom prst="rect">
            <a:avLst/>
          </a:prstGeom>
          <a:noFill/>
        </p:spPr>
        <p:txBody>
          <a:bodyPr wrap="none">
            <a:spAutoFit/>
          </a:bodyPr>
          <a:lstStyle/>
          <a:p>
            <a:r>
              <a:rPr sz="1000" b="0">
                <a:solidFill>
                  <a:srgbClr val="4A5C56"/>
                </a:solidFill>
                <a:latin typeface="Calibri"/>
              </a:rPr>
              <a:t>PEERPoint · Employee  ·  Emergencies 911 · Crisis 988 · Peer line 801-548-8002  ·  5/11</a:t>
            </a:r>
          </a:p>
        </p:txBody>
      </p:sp>
      <p:pic>
        <p:nvPicPr>
          <p:cNvPr id="11" name="05-c1e242783d">
            <a:hlinkClick r:id="" action="ppaction://media"/>
            <a:extLst>
              <a:ext uri="{FF2B5EF4-FFF2-40B4-BE49-F238E27FC236}">
                <a16:creationId xmlns:a16="http://schemas.microsoft.com/office/drawing/2014/main" id="{930F96E7-170D-9BAB-FDFD-89ED45884A62}"/>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52400" y="6477000"/>
            <a:ext cx="279400" cy="279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308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0F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46304"/>
            <a:ext cx="11155680" cy="777240"/>
          </a:xfrm>
          <a:prstGeom prst="rect">
            <a:avLst/>
          </a:prstGeom>
          <a:noFill/>
        </p:spPr>
        <p:txBody>
          <a:bodyPr wrap="square">
            <a:spAutoFit/>
          </a:bodyPr>
          <a:lstStyle/>
          <a:p>
            <a:r>
              <a:rPr sz="1100" b="1">
                <a:solidFill>
                  <a:srgbClr val="FFFFFF"/>
                </a:solidFill>
                <a:latin typeface="Calibri"/>
              </a:rPr>
              <a:t>PEERPOINT · EMPLOYEE</a:t>
            </a:r>
          </a:p>
          <a:p>
            <a:r>
              <a:rPr sz="2400" b="1">
                <a:solidFill>
                  <a:srgbClr val="FFFFFF"/>
                </a:solidFill>
                <a:latin typeface="Calibri"/>
              </a:rPr>
              <a:t>Step 3 — Start a request</a:t>
            </a:r>
          </a:p>
        </p:txBody>
      </p:sp>
      <p:pic>
        <p:nvPicPr>
          <p:cNvPr id="6" name="Picture 5" descr="member-05-request-intro.png"/>
          <p:cNvPicPr>
            <a:picLocks noChangeAspect="1"/>
          </p:cNvPicPr>
          <p:nvPr/>
        </p:nvPicPr>
        <p:blipFill>
          <a:blip r:embed="rId5"/>
          <a:stretch>
            <a:fillRect/>
          </a:stretch>
        </p:blipFill>
        <p:spPr>
          <a:xfrm>
            <a:off x="365760" y="1188720"/>
            <a:ext cx="6858000" cy="4822031"/>
          </a:xfrm>
          <a:prstGeom prst="rect">
            <a:avLst/>
          </a:prstGeom>
        </p:spPr>
      </p:pic>
      <p:sp>
        <p:nvSpPr>
          <p:cNvPr id="7" name="Rounded Rectangle 6"/>
          <p:cNvSpPr/>
          <p:nvPr/>
        </p:nvSpPr>
        <p:spPr>
          <a:xfrm>
            <a:off x="7452360" y="1188720"/>
            <a:ext cx="4297680" cy="4937760"/>
          </a:xfrm>
          <a:prstGeom prst="roundRect">
            <a:avLst/>
          </a:prstGeom>
          <a:solidFill>
            <a:srgbClr val="FFFFFF"/>
          </a:solidFill>
          <a:ln>
            <a:solidFill>
              <a:srgbClr val="0F6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0" y="1371600"/>
            <a:ext cx="3840480" cy="822960"/>
          </a:xfrm>
          <a:prstGeom prst="rect">
            <a:avLst/>
          </a:prstGeom>
          <a:noFill/>
        </p:spPr>
        <p:txBody>
          <a:bodyPr wrap="square">
            <a:spAutoFit/>
          </a:bodyPr>
          <a:lstStyle/>
          <a:p>
            <a:r>
              <a:rPr sz="1500" b="1">
                <a:solidFill>
                  <a:srgbClr val="0F6A4A"/>
                </a:solidFill>
                <a:latin typeface="Calibri"/>
              </a:rPr>
              <a:t>Request intro</a:t>
            </a:r>
          </a:p>
        </p:txBody>
      </p:sp>
      <p:sp>
        <p:nvSpPr>
          <p:cNvPr id="9" name="TextBox 8"/>
          <p:cNvSpPr txBox="1"/>
          <p:nvPr/>
        </p:nvSpPr>
        <p:spPr>
          <a:xfrm>
            <a:off x="7680960" y="2286000"/>
            <a:ext cx="3840480" cy="3566160"/>
          </a:xfrm>
          <a:prstGeom prst="rect">
            <a:avLst/>
          </a:prstGeom>
          <a:noFill/>
        </p:spPr>
        <p:txBody>
          <a:bodyPr wrap="square">
            <a:spAutoFit/>
          </a:bodyPr>
          <a:lstStyle/>
          <a:p>
            <a:pPr>
              <a:spcAft>
                <a:spcPts val="800"/>
              </a:spcAft>
            </a:pPr>
            <a:r>
              <a:rPr sz="1300" b="0">
                <a:solidFill>
                  <a:srgbClr val="1A2E28"/>
                </a:solidFill>
                <a:latin typeface="Calibri"/>
              </a:rPr>
              <a:t>•  Pick chat, voice, form, or face-to-face</a:t>
            </a:r>
          </a:p>
          <a:p>
            <a:pPr>
              <a:spcAft>
                <a:spcPts val="800"/>
              </a:spcAft>
            </a:pPr>
            <a:r>
              <a:rPr sz="1300" b="0">
                <a:solidFill>
                  <a:srgbClr val="1A2E28"/>
                </a:solidFill>
                <a:latin typeface="Calibri"/>
              </a:rPr>
              <a:t>•  Set peer preferences if offered</a:t>
            </a:r>
          </a:p>
          <a:p>
            <a:pPr>
              <a:spcAft>
                <a:spcPts val="800"/>
              </a:spcAft>
            </a:pPr>
            <a:r>
              <a:rPr sz="1300" b="0">
                <a:solidFill>
                  <a:srgbClr val="1A2E28"/>
                </a:solidFill>
                <a:latin typeface="Calibri"/>
              </a:rPr>
              <a:t>•  Stay on the page for immediate contact</a:t>
            </a:r>
          </a:p>
        </p:txBody>
      </p:sp>
      <p:sp>
        <p:nvSpPr>
          <p:cNvPr id="10" name="TextBox 9"/>
          <p:cNvSpPr txBox="1"/>
          <p:nvPr/>
        </p:nvSpPr>
        <p:spPr>
          <a:xfrm>
            <a:off x="411480" y="6492240"/>
            <a:ext cx="11155680" cy="274320"/>
          </a:xfrm>
          <a:prstGeom prst="rect">
            <a:avLst/>
          </a:prstGeom>
          <a:noFill/>
        </p:spPr>
        <p:txBody>
          <a:bodyPr wrap="none">
            <a:spAutoFit/>
          </a:bodyPr>
          <a:lstStyle/>
          <a:p>
            <a:r>
              <a:rPr sz="1000" b="0">
                <a:solidFill>
                  <a:srgbClr val="4A5C56"/>
                </a:solidFill>
                <a:latin typeface="Calibri"/>
              </a:rPr>
              <a:t>PEERPoint · Employee  ·  Emergencies 911 · Crisis 988 · Peer line 801-548-8002  ·  6/11</a:t>
            </a:r>
          </a:p>
        </p:txBody>
      </p:sp>
      <p:pic>
        <p:nvPicPr>
          <p:cNvPr id="11" name="06-d587974360">
            <a:hlinkClick r:id="" action="ppaction://media"/>
            <a:extLst>
              <a:ext uri="{FF2B5EF4-FFF2-40B4-BE49-F238E27FC236}">
                <a16:creationId xmlns:a16="http://schemas.microsoft.com/office/drawing/2014/main" id="{6647F29D-D8E2-3722-C39D-71446AB762BA}"/>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52400" y="6477000"/>
            <a:ext cx="279400" cy="279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1792"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0F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46304"/>
            <a:ext cx="11155680" cy="777240"/>
          </a:xfrm>
          <a:prstGeom prst="rect">
            <a:avLst/>
          </a:prstGeom>
          <a:noFill/>
        </p:spPr>
        <p:txBody>
          <a:bodyPr wrap="square">
            <a:spAutoFit/>
          </a:bodyPr>
          <a:lstStyle/>
          <a:p>
            <a:r>
              <a:rPr sz="1100" b="1">
                <a:solidFill>
                  <a:srgbClr val="FFFFFF"/>
                </a:solidFill>
                <a:latin typeface="Calibri"/>
              </a:rPr>
              <a:t>PEERPOINT · EMPLOYEE</a:t>
            </a:r>
          </a:p>
          <a:p>
            <a:r>
              <a:rPr sz="2400" b="1">
                <a:solidFill>
                  <a:srgbClr val="FFFFFF"/>
                </a:solidFill>
                <a:latin typeface="Calibri"/>
              </a:rPr>
              <a:t>Step 4 — Waiting in the room</a:t>
            </a:r>
          </a:p>
        </p:txBody>
      </p:sp>
      <p:pic>
        <p:nvPicPr>
          <p:cNvPr id="6" name="Picture 5" descr="member-06-waiting-in-room.png"/>
          <p:cNvPicPr>
            <a:picLocks noChangeAspect="1"/>
          </p:cNvPicPr>
          <p:nvPr/>
        </p:nvPicPr>
        <p:blipFill>
          <a:blip r:embed="rId5"/>
          <a:stretch>
            <a:fillRect/>
          </a:stretch>
        </p:blipFill>
        <p:spPr>
          <a:xfrm>
            <a:off x="365760" y="1188720"/>
            <a:ext cx="6858000" cy="4822031"/>
          </a:xfrm>
          <a:prstGeom prst="rect">
            <a:avLst/>
          </a:prstGeom>
        </p:spPr>
      </p:pic>
      <p:sp>
        <p:nvSpPr>
          <p:cNvPr id="7" name="Rounded Rectangle 6"/>
          <p:cNvSpPr/>
          <p:nvPr/>
        </p:nvSpPr>
        <p:spPr>
          <a:xfrm>
            <a:off x="7452360" y="1188720"/>
            <a:ext cx="4297680" cy="4937760"/>
          </a:xfrm>
          <a:prstGeom prst="roundRect">
            <a:avLst/>
          </a:prstGeom>
          <a:solidFill>
            <a:srgbClr val="FFFFFF"/>
          </a:solidFill>
          <a:ln>
            <a:solidFill>
              <a:srgbClr val="0F6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0" y="1371600"/>
            <a:ext cx="3840480" cy="822960"/>
          </a:xfrm>
          <a:prstGeom prst="rect">
            <a:avLst/>
          </a:prstGeom>
          <a:noFill/>
        </p:spPr>
        <p:txBody>
          <a:bodyPr wrap="square">
            <a:spAutoFit/>
          </a:bodyPr>
          <a:lstStyle/>
          <a:p>
            <a:r>
              <a:rPr sz="1500" b="1">
                <a:solidFill>
                  <a:srgbClr val="0F6A4A"/>
                </a:solidFill>
                <a:latin typeface="Calibri"/>
              </a:rPr>
              <a:t>Chat room connected</a:t>
            </a:r>
          </a:p>
        </p:txBody>
      </p:sp>
      <p:sp>
        <p:nvSpPr>
          <p:cNvPr id="9" name="TextBox 8"/>
          <p:cNvSpPr txBox="1"/>
          <p:nvPr/>
        </p:nvSpPr>
        <p:spPr>
          <a:xfrm>
            <a:off x="7680960" y="2286000"/>
            <a:ext cx="3840480" cy="3566160"/>
          </a:xfrm>
          <a:prstGeom prst="rect">
            <a:avLst/>
          </a:prstGeom>
          <a:noFill/>
        </p:spPr>
        <p:txBody>
          <a:bodyPr wrap="square">
            <a:spAutoFit/>
          </a:bodyPr>
          <a:lstStyle/>
          <a:p>
            <a:pPr>
              <a:spcAft>
                <a:spcPts val="800"/>
              </a:spcAft>
            </a:pPr>
            <a:r>
              <a:rPr sz="1300" b="0">
                <a:solidFill>
                  <a:srgbClr val="1A2E28"/>
                </a:solidFill>
                <a:latin typeface="Calibri"/>
              </a:rPr>
              <a:t>•  You may wait briefly for a Peer Support Member</a:t>
            </a:r>
          </a:p>
          <a:p>
            <a:pPr>
              <a:spcAft>
                <a:spcPts val="800"/>
              </a:spcAft>
            </a:pPr>
            <a:r>
              <a:rPr sz="1300" b="0">
                <a:solidFill>
                  <a:srgbClr val="1A2E28"/>
                </a:solidFill>
                <a:latin typeface="Calibri"/>
              </a:rPr>
              <a:t>•  Room code reconnects you if dropped</a:t>
            </a:r>
          </a:p>
          <a:p>
            <a:pPr>
              <a:spcAft>
                <a:spcPts val="800"/>
              </a:spcAft>
            </a:pPr>
            <a:r>
              <a:rPr sz="1300" b="0">
                <a:solidFill>
                  <a:srgbClr val="1A2E28"/>
                </a:solidFill>
                <a:latin typeface="Calibri"/>
              </a:rPr>
              <a:t>•  Codes expire after 24 hours unused</a:t>
            </a:r>
          </a:p>
        </p:txBody>
      </p:sp>
      <p:sp>
        <p:nvSpPr>
          <p:cNvPr id="10" name="TextBox 9"/>
          <p:cNvSpPr txBox="1"/>
          <p:nvPr/>
        </p:nvSpPr>
        <p:spPr>
          <a:xfrm>
            <a:off x="411480" y="6492240"/>
            <a:ext cx="11155680" cy="274320"/>
          </a:xfrm>
          <a:prstGeom prst="rect">
            <a:avLst/>
          </a:prstGeom>
          <a:noFill/>
        </p:spPr>
        <p:txBody>
          <a:bodyPr wrap="none">
            <a:spAutoFit/>
          </a:bodyPr>
          <a:lstStyle/>
          <a:p>
            <a:r>
              <a:rPr sz="1000" b="0">
                <a:solidFill>
                  <a:srgbClr val="4A5C56"/>
                </a:solidFill>
                <a:latin typeface="Calibri"/>
              </a:rPr>
              <a:t>PEERPoint · Employee  ·  Emergencies 911 · Crisis 988 · Peer line 801-548-8002  ·  7/11</a:t>
            </a:r>
          </a:p>
        </p:txBody>
      </p:sp>
      <p:pic>
        <p:nvPicPr>
          <p:cNvPr id="11" name="07-55406d006b">
            <a:hlinkClick r:id="" action="ppaction://media"/>
            <a:extLst>
              <a:ext uri="{FF2B5EF4-FFF2-40B4-BE49-F238E27FC236}">
                <a16:creationId xmlns:a16="http://schemas.microsoft.com/office/drawing/2014/main" id="{0A03E3A0-4BA3-A546-A34B-089C79DD25C4}"/>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52400" y="6477000"/>
            <a:ext cx="279400" cy="279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5576"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0F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46304"/>
            <a:ext cx="11155680" cy="777240"/>
          </a:xfrm>
          <a:prstGeom prst="rect">
            <a:avLst/>
          </a:prstGeom>
          <a:noFill/>
        </p:spPr>
        <p:txBody>
          <a:bodyPr wrap="square">
            <a:spAutoFit/>
          </a:bodyPr>
          <a:lstStyle/>
          <a:p>
            <a:r>
              <a:rPr sz="1100" b="1">
                <a:solidFill>
                  <a:srgbClr val="FFFFFF"/>
                </a:solidFill>
                <a:latin typeface="Calibri"/>
              </a:rPr>
              <a:t>PEERPOINT · EMPLOYEE</a:t>
            </a:r>
          </a:p>
          <a:p>
            <a:r>
              <a:rPr sz="2400" b="1">
                <a:solidFill>
                  <a:srgbClr val="FFFFFF"/>
                </a:solidFill>
                <a:latin typeface="Calibri"/>
              </a:rPr>
              <a:t>Step 5 — Peer joined alert</a:t>
            </a:r>
          </a:p>
        </p:txBody>
      </p:sp>
      <p:pic>
        <p:nvPicPr>
          <p:cNvPr id="6" name="Picture 5" descr="member-07-peer-joined-alert.png"/>
          <p:cNvPicPr>
            <a:picLocks noChangeAspect="1"/>
          </p:cNvPicPr>
          <p:nvPr/>
        </p:nvPicPr>
        <p:blipFill>
          <a:blip r:embed="rId5"/>
          <a:stretch>
            <a:fillRect/>
          </a:stretch>
        </p:blipFill>
        <p:spPr>
          <a:xfrm>
            <a:off x="365760" y="1188720"/>
            <a:ext cx="6858000" cy="5346915"/>
          </a:xfrm>
          <a:prstGeom prst="rect">
            <a:avLst/>
          </a:prstGeom>
        </p:spPr>
      </p:pic>
      <p:sp>
        <p:nvSpPr>
          <p:cNvPr id="7" name="Rounded Rectangle 6"/>
          <p:cNvSpPr/>
          <p:nvPr/>
        </p:nvSpPr>
        <p:spPr>
          <a:xfrm>
            <a:off x="7452360" y="1188720"/>
            <a:ext cx="4297680" cy="4937760"/>
          </a:xfrm>
          <a:prstGeom prst="roundRect">
            <a:avLst/>
          </a:prstGeom>
          <a:solidFill>
            <a:srgbClr val="FFFFFF"/>
          </a:solidFill>
          <a:ln>
            <a:solidFill>
              <a:srgbClr val="0F6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0" y="1371600"/>
            <a:ext cx="3840480" cy="822960"/>
          </a:xfrm>
          <a:prstGeom prst="rect">
            <a:avLst/>
          </a:prstGeom>
          <a:noFill/>
        </p:spPr>
        <p:txBody>
          <a:bodyPr wrap="square">
            <a:spAutoFit/>
          </a:bodyPr>
          <a:lstStyle/>
          <a:p>
            <a:r>
              <a:rPr sz="1500" b="1">
                <a:solidFill>
                  <a:srgbClr val="0F6A4A"/>
                </a:solidFill>
                <a:latin typeface="Calibri"/>
              </a:rPr>
              <a:t>Blinking banner + soft sound</a:t>
            </a:r>
          </a:p>
        </p:txBody>
      </p:sp>
      <p:sp>
        <p:nvSpPr>
          <p:cNvPr id="9" name="TextBox 8"/>
          <p:cNvSpPr txBox="1"/>
          <p:nvPr/>
        </p:nvSpPr>
        <p:spPr>
          <a:xfrm>
            <a:off x="7680960" y="2286000"/>
            <a:ext cx="3840480" cy="3566160"/>
          </a:xfrm>
          <a:prstGeom prst="rect">
            <a:avLst/>
          </a:prstGeom>
          <a:noFill/>
        </p:spPr>
        <p:txBody>
          <a:bodyPr wrap="square">
            <a:spAutoFit/>
          </a:bodyPr>
          <a:lstStyle/>
          <a:p>
            <a:pPr>
              <a:spcAft>
                <a:spcPts val="800"/>
              </a:spcAft>
            </a:pPr>
            <a:r>
              <a:rPr sz="1300" b="0">
                <a:solidFill>
                  <a:srgbClr val="1A2E28"/>
                </a:solidFill>
                <a:latin typeface="Calibri"/>
              </a:rPr>
              <a:t>•  Banner appears when a Peer Support Member joins</a:t>
            </a:r>
          </a:p>
          <a:p>
            <a:pPr>
              <a:spcAft>
                <a:spcPts val="800"/>
              </a:spcAft>
            </a:pPr>
            <a:r>
              <a:rPr sz="1300" b="0">
                <a:solidFill>
                  <a:srgbClr val="1A2E28"/>
                </a:solidFill>
                <a:latin typeface="Calibri"/>
              </a:rPr>
              <a:t>•  Soft alert may play (tap page once if muted by browser)</a:t>
            </a:r>
          </a:p>
          <a:p>
            <a:pPr>
              <a:spcAft>
                <a:spcPts val="800"/>
              </a:spcAft>
            </a:pPr>
            <a:r>
              <a:rPr sz="1300" b="0">
                <a:solidFill>
                  <a:srgbClr val="1A2E28"/>
                </a:solidFill>
                <a:latin typeface="Calibri"/>
              </a:rPr>
              <a:t>•  Clear the notice when ready</a:t>
            </a:r>
          </a:p>
        </p:txBody>
      </p:sp>
      <p:sp>
        <p:nvSpPr>
          <p:cNvPr id="10" name="TextBox 9"/>
          <p:cNvSpPr txBox="1"/>
          <p:nvPr/>
        </p:nvSpPr>
        <p:spPr>
          <a:xfrm>
            <a:off x="411480" y="6492240"/>
            <a:ext cx="11155680" cy="274320"/>
          </a:xfrm>
          <a:prstGeom prst="rect">
            <a:avLst/>
          </a:prstGeom>
          <a:noFill/>
        </p:spPr>
        <p:txBody>
          <a:bodyPr wrap="none">
            <a:spAutoFit/>
          </a:bodyPr>
          <a:lstStyle/>
          <a:p>
            <a:r>
              <a:rPr sz="1000" b="0">
                <a:solidFill>
                  <a:srgbClr val="4A5C56"/>
                </a:solidFill>
                <a:latin typeface="Calibri"/>
              </a:rPr>
              <a:t>PEERPoint · Employee  ·  Emergencies 911 · Crisis 988 · Peer line 801-548-8002  ·  8/11</a:t>
            </a:r>
          </a:p>
        </p:txBody>
      </p:sp>
      <p:pic>
        <p:nvPicPr>
          <p:cNvPr id="11" name="08-c9cefc4f36">
            <a:hlinkClick r:id="" action="ppaction://media"/>
            <a:extLst>
              <a:ext uri="{FF2B5EF4-FFF2-40B4-BE49-F238E27FC236}">
                <a16:creationId xmlns:a16="http://schemas.microsoft.com/office/drawing/2014/main" id="{82CE3081-DA73-4F65-2EBB-0C88AFF23755}"/>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52400" y="6477000"/>
            <a:ext cx="279400" cy="279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6632"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0F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46304"/>
            <a:ext cx="11155680" cy="777240"/>
          </a:xfrm>
          <a:prstGeom prst="rect">
            <a:avLst/>
          </a:prstGeom>
          <a:noFill/>
        </p:spPr>
        <p:txBody>
          <a:bodyPr wrap="square">
            <a:spAutoFit/>
          </a:bodyPr>
          <a:lstStyle/>
          <a:p>
            <a:r>
              <a:rPr sz="1100" b="1">
                <a:solidFill>
                  <a:srgbClr val="FFFFFF"/>
                </a:solidFill>
                <a:latin typeface="Calibri"/>
              </a:rPr>
              <a:t>PEERPOINT · EMPLOYEE</a:t>
            </a:r>
          </a:p>
          <a:p>
            <a:r>
              <a:rPr sz="2400" b="1">
                <a:solidFill>
                  <a:srgbClr val="FFFFFF"/>
                </a:solidFill>
                <a:latin typeface="Calibri"/>
              </a:rPr>
              <a:t>Self Help</a:t>
            </a:r>
          </a:p>
        </p:txBody>
      </p:sp>
      <p:pic>
        <p:nvPicPr>
          <p:cNvPr id="6" name="Picture 5" descr="member-03-self-help.png"/>
          <p:cNvPicPr>
            <a:picLocks noChangeAspect="1"/>
          </p:cNvPicPr>
          <p:nvPr/>
        </p:nvPicPr>
        <p:blipFill>
          <a:blip r:embed="rId5"/>
          <a:stretch>
            <a:fillRect/>
          </a:stretch>
        </p:blipFill>
        <p:spPr>
          <a:xfrm>
            <a:off x="365760" y="1188720"/>
            <a:ext cx="6858000" cy="4822031"/>
          </a:xfrm>
          <a:prstGeom prst="rect">
            <a:avLst/>
          </a:prstGeom>
        </p:spPr>
      </p:pic>
      <p:sp>
        <p:nvSpPr>
          <p:cNvPr id="7" name="Rounded Rectangle 6"/>
          <p:cNvSpPr/>
          <p:nvPr/>
        </p:nvSpPr>
        <p:spPr>
          <a:xfrm>
            <a:off x="7452360" y="1188720"/>
            <a:ext cx="4297680" cy="4937760"/>
          </a:xfrm>
          <a:prstGeom prst="roundRect">
            <a:avLst/>
          </a:prstGeom>
          <a:solidFill>
            <a:srgbClr val="FFFFFF"/>
          </a:solidFill>
          <a:ln>
            <a:solidFill>
              <a:srgbClr val="0F6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0" y="1371600"/>
            <a:ext cx="3840480" cy="822960"/>
          </a:xfrm>
          <a:prstGeom prst="rect">
            <a:avLst/>
          </a:prstGeom>
          <a:noFill/>
        </p:spPr>
        <p:txBody>
          <a:bodyPr wrap="square">
            <a:spAutoFit/>
          </a:bodyPr>
          <a:lstStyle/>
          <a:p>
            <a:r>
              <a:rPr sz="1500" b="1">
                <a:solidFill>
                  <a:srgbClr val="0F6A4A"/>
                </a:solidFill>
                <a:latin typeface="Calibri"/>
              </a:rPr>
              <a:t>Articles anytime</a:t>
            </a:r>
          </a:p>
        </p:txBody>
      </p:sp>
      <p:sp>
        <p:nvSpPr>
          <p:cNvPr id="9" name="TextBox 8"/>
          <p:cNvSpPr txBox="1"/>
          <p:nvPr/>
        </p:nvSpPr>
        <p:spPr>
          <a:xfrm>
            <a:off x="7680960" y="2286000"/>
            <a:ext cx="3840480" cy="3566160"/>
          </a:xfrm>
          <a:prstGeom prst="rect">
            <a:avLst/>
          </a:prstGeom>
          <a:noFill/>
        </p:spPr>
        <p:txBody>
          <a:bodyPr wrap="square">
            <a:spAutoFit/>
          </a:bodyPr>
          <a:lstStyle/>
          <a:p>
            <a:pPr>
              <a:spcAft>
                <a:spcPts val="800"/>
              </a:spcAft>
            </a:pPr>
            <a:r>
              <a:rPr sz="1300" b="0">
                <a:solidFill>
                  <a:srgbClr val="1A2E28"/>
                </a:solidFill>
                <a:latin typeface="Calibri"/>
              </a:rPr>
              <a:t>•  Works offline</a:t>
            </a:r>
          </a:p>
          <a:p>
            <a:pPr>
              <a:spcAft>
                <a:spcPts val="800"/>
              </a:spcAft>
            </a:pPr>
            <a:r>
              <a:rPr sz="1300" b="0">
                <a:solidFill>
                  <a:srgbClr val="1A2E28"/>
                </a:solidFill>
                <a:latin typeface="Calibri"/>
              </a:rPr>
              <a:t>•  Nothing is sent when you read</a:t>
            </a:r>
          </a:p>
          <a:p>
            <a:pPr>
              <a:spcAft>
                <a:spcPts val="800"/>
              </a:spcAft>
            </a:pPr>
            <a:r>
              <a:rPr sz="1300" b="0">
                <a:solidFill>
                  <a:srgbClr val="1A2E28"/>
                </a:solidFill>
                <a:latin typeface="Calibri"/>
              </a:rPr>
              <a:t>•  Not a substitute for 911 / 988</a:t>
            </a:r>
          </a:p>
        </p:txBody>
      </p:sp>
      <p:sp>
        <p:nvSpPr>
          <p:cNvPr id="10" name="TextBox 9"/>
          <p:cNvSpPr txBox="1"/>
          <p:nvPr/>
        </p:nvSpPr>
        <p:spPr>
          <a:xfrm>
            <a:off x="411480" y="6492240"/>
            <a:ext cx="11155680" cy="274320"/>
          </a:xfrm>
          <a:prstGeom prst="rect">
            <a:avLst/>
          </a:prstGeom>
          <a:noFill/>
        </p:spPr>
        <p:txBody>
          <a:bodyPr wrap="none">
            <a:spAutoFit/>
          </a:bodyPr>
          <a:lstStyle/>
          <a:p>
            <a:r>
              <a:rPr sz="1000" b="0">
                <a:solidFill>
                  <a:srgbClr val="4A5C56"/>
                </a:solidFill>
                <a:latin typeface="Calibri"/>
              </a:rPr>
              <a:t>PEERPoint · Employee  ·  Emergencies 911 · Crisis 988 · Peer line 801-548-8002  ·  9/11</a:t>
            </a:r>
          </a:p>
        </p:txBody>
      </p:sp>
      <p:pic>
        <p:nvPicPr>
          <p:cNvPr id="11" name="09-990e173cad">
            <a:hlinkClick r:id="" action="ppaction://media"/>
            <a:extLst>
              <a:ext uri="{FF2B5EF4-FFF2-40B4-BE49-F238E27FC236}">
                <a16:creationId xmlns:a16="http://schemas.microsoft.com/office/drawing/2014/main" id="{0A7EA5DE-2606-6674-1474-C92A3F6BE089}"/>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52400" y="6477000"/>
            <a:ext cx="279400" cy="279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492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0F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46304"/>
            <a:ext cx="11155680" cy="777240"/>
          </a:xfrm>
          <a:prstGeom prst="rect">
            <a:avLst/>
          </a:prstGeom>
          <a:noFill/>
        </p:spPr>
        <p:txBody>
          <a:bodyPr wrap="square">
            <a:spAutoFit/>
          </a:bodyPr>
          <a:lstStyle/>
          <a:p>
            <a:r>
              <a:rPr sz="1100" b="1">
                <a:solidFill>
                  <a:srgbClr val="FFFFFF"/>
                </a:solidFill>
                <a:latin typeface="Calibri"/>
              </a:rPr>
              <a:t>PEERPOINT · EMPLOYEE</a:t>
            </a:r>
          </a:p>
          <a:p>
            <a:r>
              <a:rPr sz="2400" b="1">
                <a:solidFill>
                  <a:srgbClr val="FFFFFF"/>
                </a:solidFill>
                <a:latin typeface="Calibri"/>
              </a:rPr>
              <a:t>Resources</a:t>
            </a:r>
          </a:p>
        </p:txBody>
      </p:sp>
      <p:pic>
        <p:nvPicPr>
          <p:cNvPr id="6" name="Picture 5" descr="member-04-resources.png"/>
          <p:cNvPicPr>
            <a:picLocks noChangeAspect="1"/>
          </p:cNvPicPr>
          <p:nvPr/>
        </p:nvPicPr>
        <p:blipFill>
          <a:blip r:embed="rId5"/>
          <a:stretch>
            <a:fillRect/>
          </a:stretch>
        </p:blipFill>
        <p:spPr>
          <a:xfrm>
            <a:off x="365760" y="1188720"/>
            <a:ext cx="6858000" cy="4822031"/>
          </a:xfrm>
          <a:prstGeom prst="rect">
            <a:avLst/>
          </a:prstGeom>
        </p:spPr>
      </p:pic>
      <p:sp>
        <p:nvSpPr>
          <p:cNvPr id="7" name="Rounded Rectangle 6"/>
          <p:cNvSpPr/>
          <p:nvPr/>
        </p:nvSpPr>
        <p:spPr>
          <a:xfrm>
            <a:off x="7452360" y="1188720"/>
            <a:ext cx="4297680" cy="4937760"/>
          </a:xfrm>
          <a:prstGeom prst="roundRect">
            <a:avLst/>
          </a:prstGeom>
          <a:solidFill>
            <a:srgbClr val="FFFFFF"/>
          </a:solidFill>
          <a:ln>
            <a:solidFill>
              <a:srgbClr val="0F6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0" y="1371600"/>
            <a:ext cx="3840480" cy="822960"/>
          </a:xfrm>
          <a:prstGeom prst="rect">
            <a:avLst/>
          </a:prstGeom>
          <a:noFill/>
        </p:spPr>
        <p:txBody>
          <a:bodyPr wrap="square">
            <a:spAutoFit/>
          </a:bodyPr>
          <a:lstStyle/>
          <a:p>
            <a:r>
              <a:rPr sz="1500" b="1">
                <a:solidFill>
                  <a:srgbClr val="0F6A4A"/>
                </a:solidFill>
                <a:latin typeface="Calibri"/>
              </a:rPr>
              <a:t>Videos &amp; gallery</a:t>
            </a:r>
          </a:p>
        </p:txBody>
      </p:sp>
      <p:sp>
        <p:nvSpPr>
          <p:cNvPr id="9" name="TextBox 8"/>
          <p:cNvSpPr txBox="1"/>
          <p:nvPr/>
        </p:nvSpPr>
        <p:spPr>
          <a:xfrm>
            <a:off x="7680960" y="2286000"/>
            <a:ext cx="3840480" cy="3566160"/>
          </a:xfrm>
          <a:prstGeom prst="rect">
            <a:avLst/>
          </a:prstGeom>
          <a:noFill/>
        </p:spPr>
        <p:txBody>
          <a:bodyPr wrap="square">
            <a:spAutoFit/>
          </a:bodyPr>
          <a:lstStyle/>
          <a:p>
            <a:pPr>
              <a:spcAft>
                <a:spcPts val="800"/>
              </a:spcAft>
            </a:pPr>
            <a:r>
              <a:rPr sz="1300" b="0">
                <a:solidFill>
                  <a:srgbClr val="1A2E28"/>
                </a:solidFill>
                <a:latin typeface="Calibri"/>
              </a:rPr>
              <a:t>•  Curated by Admins</a:t>
            </a:r>
          </a:p>
          <a:p>
            <a:pPr>
              <a:spcAft>
                <a:spcPts val="800"/>
              </a:spcAft>
            </a:pPr>
            <a:r>
              <a:rPr sz="1300" b="0">
                <a:solidFill>
                  <a:srgbClr val="1A2E28"/>
                </a:solidFill>
                <a:latin typeface="Calibri"/>
              </a:rPr>
              <a:t>•  Includes coloring pages</a:t>
            </a:r>
          </a:p>
          <a:p>
            <a:pPr>
              <a:spcAft>
                <a:spcPts val="800"/>
              </a:spcAft>
            </a:pPr>
            <a:r>
              <a:rPr sz="1300" b="0">
                <a:solidFill>
                  <a:srgbClr val="1A2E28"/>
                </a:solidFill>
                <a:latin typeface="Calibri"/>
              </a:rPr>
              <a:t>•  Use alongside peer support</a:t>
            </a:r>
          </a:p>
        </p:txBody>
      </p:sp>
      <p:sp>
        <p:nvSpPr>
          <p:cNvPr id="10" name="TextBox 9"/>
          <p:cNvSpPr txBox="1"/>
          <p:nvPr/>
        </p:nvSpPr>
        <p:spPr>
          <a:xfrm>
            <a:off x="411480" y="6492240"/>
            <a:ext cx="11155680" cy="274320"/>
          </a:xfrm>
          <a:prstGeom prst="rect">
            <a:avLst/>
          </a:prstGeom>
          <a:noFill/>
        </p:spPr>
        <p:txBody>
          <a:bodyPr wrap="none">
            <a:spAutoFit/>
          </a:bodyPr>
          <a:lstStyle/>
          <a:p>
            <a:r>
              <a:rPr sz="1000" b="0">
                <a:solidFill>
                  <a:srgbClr val="4A5C56"/>
                </a:solidFill>
                <a:latin typeface="Calibri"/>
              </a:rPr>
              <a:t>PEERPoint · Employee  ·  Emergencies 911 · Crisis 988 · Peer line 801-548-8002  ·  10/11</a:t>
            </a:r>
          </a:p>
        </p:txBody>
      </p:sp>
      <p:pic>
        <p:nvPicPr>
          <p:cNvPr id="11" name="10-2039cf45f5">
            <a:hlinkClick r:id="" action="ppaction://media"/>
            <a:extLst>
              <a:ext uri="{FF2B5EF4-FFF2-40B4-BE49-F238E27FC236}">
                <a16:creationId xmlns:a16="http://schemas.microsoft.com/office/drawing/2014/main" id="{8256751B-CF9A-FB0F-6A9C-D2F9ED28C727}"/>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52400" y="6477000"/>
            <a:ext cx="279400" cy="279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88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0F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46304"/>
            <a:ext cx="11155680" cy="777240"/>
          </a:xfrm>
          <a:prstGeom prst="rect">
            <a:avLst/>
          </a:prstGeom>
          <a:noFill/>
        </p:spPr>
        <p:txBody>
          <a:bodyPr wrap="square">
            <a:spAutoFit/>
          </a:bodyPr>
          <a:lstStyle/>
          <a:p>
            <a:r>
              <a:rPr sz="1100" b="1">
                <a:solidFill>
                  <a:srgbClr val="FFFFFF"/>
                </a:solidFill>
                <a:latin typeface="Calibri"/>
              </a:rPr>
              <a:t>PEERPOINT · EMPLOYEE</a:t>
            </a:r>
          </a:p>
          <a:p>
            <a:r>
              <a:rPr sz="2400" b="1">
                <a:solidFill>
                  <a:srgbClr val="FFFFFF"/>
                </a:solidFill>
                <a:latin typeface="Calibri"/>
              </a:rPr>
              <a:t>Employee quick checklist</a:t>
            </a:r>
          </a:p>
        </p:txBody>
      </p:sp>
      <p:sp>
        <p:nvSpPr>
          <p:cNvPr id="6" name="TextBox 5"/>
          <p:cNvSpPr txBox="1"/>
          <p:nvPr/>
        </p:nvSpPr>
        <p:spPr>
          <a:xfrm>
            <a:off x="502920" y="1234440"/>
            <a:ext cx="10972800" cy="5029200"/>
          </a:xfrm>
          <a:prstGeom prst="rect">
            <a:avLst/>
          </a:prstGeom>
          <a:noFill/>
        </p:spPr>
        <p:txBody>
          <a:bodyPr wrap="square">
            <a:spAutoFit/>
          </a:bodyPr>
          <a:lstStyle/>
          <a:p>
            <a:pPr>
              <a:spcAft>
                <a:spcPts val="900"/>
              </a:spcAft>
            </a:pPr>
            <a:r>
              <a:rPr sz="1700" b="0">
                <a:solidFill>
                  <a:srgbClr val="1A2E28"/>
                </a:solidFill>
                <a:latin typeface="Calibri"/>
              </a:rPr>
              <a:t>•  Unlock with site use code: slcoso (Sheriff’s Office only — do not share outside).</a:t>
            </a:r>
          </a:p>
          <a:p>
            <a:pPr>
              <a:spcAft>
                <a:spcPts val="900"/>
              </a:spcAft>
            </a:pPr>
            <a:r>
              <a:rPr sz="1700" b="0">
                <a:solidFill>
                  <a:srgbClr val="1A2E28"/>
                </a:solidFill>
                <a:latin typeface="Calibri"/>
              </a:rPr>
              <a:t>•  Request Help → choose contact mode → submit.</a:t>
            </a:r>
          </a:p>
          <a:p>
            <a:pPr>
              <a:spcAft>
                <a:spcPts val="900"/>
              </a:spcAft>
            </a:pPr>
            <a:r>
              <a:rPr sz="1700" b="0">
                <a:solidFill>
                  <a:srgbClr val="1A2E28"/>
                </a:solidFill>
                <a:latin typeface="Calibri"/>
              </a:rPr>
              <a:t>•  Wait for a Peer Support Member; watch for join banner / email / SMS.</a:t>
            </a:r>
          </a:p>
          <a:p>
            <a:pPr>
              <a:spcAft>
                <a:spcPts val="900"/>
              </a:spcAft>
            </a:pPr>
            <a:r>
              <a:rPr sz="1700" b="0">
                <a:solidFill>
                  <a:srgbClr val="1A2E28"/>
                </a:solidFill>
                <a:latin typeface="Calibri"/>
              </a:rPr>
              <a:t>•  Chat or voice; reconnect with the same room code if needed.</a:t>
            </a:r>
          </a:p>
          <a:p>
            <a:pPr>
              <a:spcAft>
                <a:spcPts val="900"/>
              </a:spcAft>
            </a:pPr>
            <a:r>
              <a:rPr sz="1700" b="0">
                <a:solidFill>
                  <a:srgbClr val="1A2E28"/>
                </a:solidFill>
                <a:latin typeface="Calibri"/>
              </a:rPr>
              <a:t>•  Use 911 / 988 when crisis care is needed.</a:t>
            </a:r>
          </a:p>
        </p:txBody>
      </p:sp>
      <p:sp>
        <p:nvSpPr>
          <p:cNvPr id="7" name="TextBox 6"/>
          <p:cNvSpPr txBox="1"/>
          <p:nvPr/>
        </p:nvSpPr>
        <p:spPr>
          <a:xfrm>
            <a:off x="411480" y="6492240"/>
            <a:ext cx="11155680" cy="274320"/>
          </a:xfrm>
          <a:prstGeom prst="rect">
            <a:avLst/>
          </a:prstGeom>
          <a:noFill/>
        </p:spPr>
        <p:txBody>
          <a:bodyPr wrap="none">
            <a:spAutoFit/>
          </a:bodyPr>
          <a:lstStyle/>
          <a:p>
            <a:r>
              <a:rPr sz="1000" b="0">
                <a:solidFill>
                  <a:srgbClr val="4A5C56"/>
                </a:solidFill>
                <a:latin typeface="Calibri"/>
              </a:rPr>
              <a:t>PEERPoint · Employee  ·  Emergencies 911 · Crisis 988 · Peer line 801-548-8002  ·  11/11</a:t>
            </a:r>
          </a:p>
        </p:txBody>
      </p:sp>
      <p:pic>
        <p:nvPicPr>
          <p:cNvPr id="8" name="11-1794ac906c">
            <a:hlinkClick r:id="" action="ppaction://media"/>
            <a:extLst>
              <a:ext uri="{FF2B5EF4-FFF2-40B4-BE49-F238E27FC236}">
                <a16:creationId xmlns:a16="http://schemas.microsoft.com/office/drawing/2014/main" id="{91AA44F4-94FB-0910-8C15-76FE57BA14F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52400" y="6477000"/>
            <a:ext cx="279400" cy="279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392"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1304</Words>
  <Application>Microsoft Office PowerPoint</Application>
  <PresentationFormat>Widescreen</PresentationFormat>
  <Paragraphs>91</Paragraphs>
  <Slides>11</Slides>
  <Notes>11</Notes>
  <HiddenSlides>0</HiddenSlides>
  <MMClips>11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Sam Smith</cp:lastModifiedBy>
  <cp:revision>2</cp:revision>
  <dcterms:created xsi:type="dcterms:W3CDTF">2013-01-27T09:14:16Z</dcterms:created>
  <dcterms:modified xsi:type="dcterms:W3CDTF">2026-08-15T04:44:45Z</dcterms:modified>
  <cp:category/>
</cp:coreProperties>
</file>