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6" d="100"/>
          <a:sy n="86" d="100"/>
        </p:scale>
        <p:origin x="498" y="3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8882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Peer Point staff training. This guide walks Peer Support Members through sign-in, On Call, assignment alerts, and supporting Salt Lake County Sheriff’s Office employees in chat or voice. Peer Support Members provide peer support. Sheriff’s Office employees are the people requesting help.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Sign in at my Peer Point dot com slash staff — not the Admin site. Use your work email and password. If you received a temporary password, you must change it before using staff tools. Forgot password sends a one-hour reset link to your email.</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staff workspace, mark yourself Available when you can take work, and set your peer display name for assignments. Refresh the Requests queue as needed. Your session lasts about twelve hours.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On Call tab and add blocks for the days and times you can cover. Acknowledge that you will be available during those times. Immediate chat and voice requests from Sheriff’s Office employees match On Call Peer Support Members, including sex preference when set. Peer Support Members schedule themselves; Admins can schedule others if needed.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a Salt Lake County Sheriff’s Office employee is matched to you, a blinking banner appears and a soft alert loops until you Clear the notice, Accept, or Decline. The browser tab title also flashes so you notice if you are in another tab. If you do not hear sound, click the page once or use Test sound — browsers block audio until a gesture.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Accept stops the alert and assigns the room. Open Peer chat or Peer voice. The employee may receive an email or text with a join link when configured. If delivery fails, share the room code manually. Codes expire after twenty-four hours unused.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Join with any display name you are comfortable using. A soft chime plays on new messages. Add staff notes and log time on the request, then Close when finished. Do not paste room codes or employee details into public channels.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Checklist for Peer Support Members: sign in, set Available, and add On Call; watch for blinking assignment alerts; Accept and join chat or voice; support the Sheriff’s Office employee; add notes and time; Close; then Sign out. Thank you for supporting your peers.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1.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48840"/>
            <a:ext cx="12191695" cy="9144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972800" cy="457200"/>
          </a:xfrm>
          <a:prstGeom prst="rect">
            <a:avLst/>
          </a:prstGeom>
          <a:noFill/>
        </p:spPr>
        <p:txBody>
          <a:bodyPr wrap="none">
            <a:spAutoFit/>
          </a:bodyPr>
          <a:lstStyle/>
          <a:p>
            <a:r>
              <a:rPr sz="1400" b="1">
                <a:solidFill>
                  <a:srgbClr val="B45309"/>
                </a:solidFill>
                <a:latin typeface="Calibri"/>
              </a:rPr>
              <a:t>PEERPOINT  ·  SALT LAKE COUNTY SHERIFF'S OFFICE</a:t>
            </a:r>
          </a:p>
        </p:txBody>
      </p:sp>
      <p:sp>
        <p:nvSpPr>
          <p:cNvPr id="5" name="TextBox 4"/>
          <p:cNvSpPr txBox="1"/>
          <p:nvPr/>
        </p:nvSpPr>
        <p:spPr>
          <a:xfrm>
            <a:off x="640080" y="2377440"/>
            <a:ext cx="10972800" cy="1097280"/>
          </a:xfrm>
          <a:prstGeom prst="rect">
            <a:avLst/>
          </a:prstGeom>
          <a:noFill/>
        </p:spPr>
        <p:txBody>
          <a:bodyPr wrap="none">
            <a:spAutoFit/>
          </a:bodyPr>
          <a:lstStyle/>
          <a:p>
            <a:r>
              <a:rPr sz="4000" b="1">
                <a:solidFill>
                  <a:srgbClr val="FFFFFF"/>
                </a:solidFill>
                <a:latin typeface="Calibri"/>
              </a:rPr>
              <a:t>Staff / Peer Support Member</a:t>
            </a:r>
          </a:p>
        </p:txBody>
      </p:sp>
      <p:sp>
        <p:nvSpPr>
          <p:cNvPr id="6" name="TextBox 5"/>
          <p:cNvSpPr txBox="1"/>
          <p:nvPr/>
        </p:nvSpPr>
        <p:spPr>
          <a:xfrm>
            <a:off x="640080" y="3520440"/>
            <a:ext cx="10972800" cy="731520"/>
          </a:xfrm>
          <a:prstGeom prst="rect">
            <a:avLst/>
          </a:prstGeom>
          <a:noFill/>
        </p:spPr>
        <p:txBody>
          <a:bodyPr wrap="square">
            <a:spAutoFit/>
          </a:bodyPr>
          <a:lstStyle/>
          <a:p>
            <a:r>
              <a:rPr sz="2000" b="0">
                <a:solidFill>
                  <a:srgbClr val="F6FAF7"/>
                </a:solidFill>
                <a:latin typeface="Calibri"/>
              </a:rPr>
              <a:t>Sign in, On Call, accept requests, and support employees — with screenshots</a:t>
            </a:r>
          </a:p>
        </p:txBody>
      </p:sp>
      <p:sp>
        <p:nvSpPr>
          <p:cNvPr id="7" name="TextBox 6"/>
          <p:cNvSpPr txBox="1"/>
          <p:nvPr/>
        </p:nvSpPr>
        <p:spPr>
          <a:xfrm>
            <a:off x="640080" y="4663440"/>
            <a:ext cx="10972800" cy="548640"/>
          </a:xfrm>
          <a:prstGeom prst="rect">
            <a:avLst/>
          </a:prstGeom>
          <a:noFill/>
        </p:spPr>
        <p:txBody>
          <a:bodyPr wrap="none">
            <a:spAutoFit/>
          </a:bodyPr>
          <a:lstStyle/>
          <a:p>
            <a:r>
              <a:rPr sz="1600" b="0">
                <a:solidFill>
                  <a:srgbClr val="A8C4B8"/>
                </a:solidFill>
                <a:latin typeface="Calibri"/>
              </a:rPr>
              <a:t>For Peer Support Members who provide peer support to Sheriff’s Office employees</a:t>
            </a:r>
          </a:p>
        </p:txBody>
      </p:sp>
      <p:sp>
        <p:nvSpPr>
          <p:cNvPr id="8" name="TextBox 7"/>
          <p:cNvSpPr txBox="1"/>
          <p:nvPr/>
        </p:nvSpPr>
        <p:spPr>
          <a:xfrm>
            <a:off x="640080" y="5852160"/>
            <a:ext cx="10972800" cy="457200"/>
          </a:xfrm>
          <a:prstGeom prst="rect">
            <a:avLst/>
          </a:prstGeom>
          <a:noFill/>
        </p:spPr>
        <p:txBody>
          <a:bodyPr wrap="none">
            <a:spAutoFit/>
          </a:bodyPr>
          <a:lstStyle/>
          <a:p>
            <a:r>
              <a:rPr sz="1400" b="0">
                <a:solidFill>
                  <a:srgbClr val="FFFFFF"/>
                </a:solidFill>
                <a:latin typeface="Calibri"/>
              </a:rPr>
              <a:t>mypeerpoint.com  ·  admin.mypeerpoint.com</a:t>
            </a:r>
          </a:p>
        </p:txBody>
      </p:sp>
      <p:pic>
        <p:nvPicPr>
          <p:cNvPr id="9" name="01-b814842a59">
            <a:hlinkClick r:id="" action="ppaction://media"/>
            <a:extLst>
              <a:ext uri="{FF2B5EF4-FFF2-40B4-BE49-F238E27FC236}">
                <a16:creationId xmlns:a16="http://schemas.microsoft.com/office/drawing/2014/main" id="{2C2B4799-54D4-5822-59AE-B4AC17E9F4B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1072"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Sign in</a:t>
            </a:r>
          </a:p>
        </p:txBody>
      </p:sp>
      <p:pic>
        <p:nvPicPr>
          <p:cNvPr id="6" name="Picture 5" descr="staff-01-login.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mypeerpoint.com/staff</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Use work email + password</a:t>
            </a:r>
          </a:p>
          <a:p>
            <a:pPr>
              <a:spcAft>
                <a:spcPts val="800"/>
              </a:spcAft>
            </a:pPr>
            <a:r>
              <a:rPr sz="1300" b="0">
                <a:solidFill>
                  <a:srgbClr val="1A2E28"/>
                </a:solidFill>
                <a:latin typeface="Calibri"/>
              </a:rPr>
              <a:t>•  Not the Admin site</a:t>
            </a:r>
          </a:p>
          <a:p>
            <a:pPr>
              <a:spcAft>
                <a:spcPts val="800"/>
              </a:spcAft>
            </a:pPr>
            <a:r>
              <a:rPr sz="1300" b="0">
                <a:solidFill>
                  <a:srgbClr val="1A2E28"/>
                </a:solidFill>
                <a:latin typeface="Calibri"/>
              </a:rPr>
              <a:t>•  Change temp password on first login</a:t>
            </a:r>
          </a:p>
          <a:p>
            <a:pPr>
              <a:spcAft>
                <a:spcPts val="800"/>
              </a:spcAft>
            </a:pPr>
            <a:r>
              <a:rPr sz="1300" b="0">
                <a:solidFill>
                  <a:srgbClr val="1A2E28"/>
                </a:solidFill>
                <a:latin typeface="Calibri"/>
              </a:rPr>
              <a:t>•  Forgot password? Use the reset link</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2/8</a:t>
            </a:r>
          </a:p>
        </p:txBody>
      </p:sp>
      <p:pic>
        <p:nvPicPr>
          <p:cNvPr id="11" name="02-556182ca03">
            <a:hlinkClick r:id="" action="ppaction://media"/>
            <a:extLst>
              <a:ext uri="{FF2B5EF4-FFF2-40B4-BE49-F238E27FC236}">
                <a16:creationId xmlns:a16="http://schemas.microsoft.com/office/drawing/2014/main" id="{8F1B63F6-A19D-DCBD-4C9E-EE255ED3270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2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Staff workspace</a:t>
            </a:r>
          </a:p>
        </p:txBody>
      </p:sp>
      <p:pic>
        <p:nvPicPr>
          <p:cNvPr id="6" name="Picture 5" descr="staff-02-workspace.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Availability + Requests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Mark yourself Available when ready</a:t>
            </a:r>
          </a:p>
          <a:p>
            <a:pPr>
              <a:spcAft>
                <a:spcPts val="800"/>
              </a:spcAft>
            </a:pPr>
            <a:r>
              <a:rPr sz="1300" b="0">
                <a:solidFill>
                  <a:srgbClr val="1A2E28"/>
                </a:solidFill>
                <a:latin typeface="Calibri"/>
              </a:rPr>
              <a:t>•  Set peer display name</a:t>
            </a:r>
          </a:p>
          <a:p>
            <a:pPr>
              <a:spcAft>
                <a:spcPts val="800"/>
              </a:spcAft>
            </a:pPr>
            <a:r>
              <a:rPr sz="1300" b="0">
                <a:solidFill>
                  <a:srgbClr val="1A2E28"/>
                </a:solidFill>
                <a:latin typeface="Calibri"/>
              </a:rPr>
              <a:t>•  Refresh the queue as needed</a:t>
            </a:r>
          </a:p>
          <a:p>
            <a:pPr>
              <a:spcAft>
                <a:spcPts val="800"/>
              </a:spcAft>
            </a:pPr>
            <a:r>
              <a:rPr sz="1300" b="0">
                <a:solidFill>
                  <a:srgbClr val="1A2E28"/>
                </a:solidFill>
                <a:latin typeface="Calibri"/>
              </a:rPr>
              <a:t>•  Session lasts ~12 hours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3/8</a:t>
            </a:r>
          </a:p>
        </p:txBody>
      </p:sp>
      <p:pic>
        <p:nvPicPr>
          <p:cNvPr id="11" name="03-28bf910238">
            <a:hlinkClick r:id="" action="ppaction://media"/>
            <a:extLst>
              <a:ext uri="{FF2B5EF4-FFF2-40B4-BE49-F238E27FC236}">
                <a16:creationId xmlns:a16="http://schemas.microsoft.com/office/drawing/2014/main" id="{D3FA7FB0-3CE9-557C-5111-850B7E6BA1E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89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On Call</a:t>
            </a:r>
          </a:p>
        </p:txBody>
      </p:sp>
      <p:pic>
        <p:nvPicPr>
          <p:cNvPr id="6" name="Picture 5" descr="staff-03-on-call.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Add coverage blocks</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Add day + start/end times</a:t>
            </a:r>
          </a:p>
          <a:p>
            <a:pPr>
              <a:spcAft>
                <a:spcPts val="800"/>
              </a:spcAft>
            </a:pPr>
            <a:r>
              <a:rPr sz="1300" b="0">
                <a:solidFill>
                  <a:srgbClr val="1A2E28"/>
                </a:solidFill>
                <a:latin typeface="Calibri"/>
              </a:rPr>
              <a:t>•  Acknowledge availability</a:t>
            </a:r>
          </a:p>
          <a:p>
            <a:pPr>
              <a:spcAft>
                <a:spcPts val="800"/>
              </a:spcAft>
            </a:pPr>
            <a:r>
              <a:rPr sz="1300" b="0">
                <a:solidFill>
                  <a:srgbClr val="1A2E28"/>
                </a:solidFill>
                <a:latin typeface="Calibri"/>
              </a:rPr>
              <a:t>•  Immediate requests match On Call Peer Support Members</a:t>
            </a:r>
          </a:p>
          <a:p>
            <a:pPr>
              <a:spcAft>
                <a:spcPts val="800"/>
              </a:spcAft>
            </a:pPr>
            <a:r>
              <a:rPr sz="1300" b="0">
                <a:solidFill>
                  <a:srgbClr val="1A2E28"/>
                </a:solidFill>
                <a:latin typeface="Calibri"/>
              </a:rPr>
              <a:t>•  Peer Support Members schedule themselves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4/8</a:t>
            </a:r>
          </a:p>
        </p:txBody>
      </p:sp>
      <p:pic>
        <p:nvPicPr>
          <p:cNvPr id="11" name="04-dd547305c0">
            <a:hlinkClick r:id="" action="ppaction://media"/>
            <a:extLst>
              <a:ext uri="{FF2B5EF4-FFF2-40B4-BE49-F238E27FC236}">
                <a16:creationId xmlns:a16="http://schemas.microsoft.com/office/drawing/2014/main" id="{5B8E1810-C6A4-61DE-F4BD-5F8BF19E67C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371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Assignment alert</a:t>
            </a:r>
          </a:p>
        </p:txBody>
      </p:sp>
      <p:pic>
        <p:nvPicPr>
          <p:cNvPr id="6" name="Picture 5" descr="staff-04-assignment-aler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Blinking banner + sound loop</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Appears when an employee is matched to you</a:t>
            </a:r>
          </a:p>
          <a:p>
            <a:pPr>
              <a:spcAft>
                <a:spcPts val="800"/>
              </a:spcAft>
            </a:pPr>
            <a:r>
              <a:rPr sz="1300" b="0">
                <a:solidFill>
                  <a:srgbClr val="1A2E28"/>
                </a:solidFill>
                <a:latin typeface="Calibri"/>
              </a:rPr>
              <a:t>•  Sound loops until Clear / Accept / Decline</a:t>
            </a:r>
          </a:p>
          <a:p>
            <a:pPr>
              <a:spcAft>
                <a:spcPts val="800"/>
              </a:spcAft>
            </a:pPr>
            <a:r>
              <a:rPr sz="1300" b="0">
                <a:solidFill>
                  <a:srgbClr val="1A2E28"/>
                </a:solidFill>
                <a:latin typeface="Calibri"/>
              </a:rPr>
              <a:t>•  Use Test sound after login if needed</a:t>
            </a:r>
          </a:p>
          <a:p>
            <a:pPr>
              <a:spcAft>
                <a:spcPts val="800"/>
              </a:spcAft>
            </a:pPr>
            <a:r>
              <a:rPr sz="1300" b="0">
                <a:solidFill>
                  <a:srgbClr val="1A2E28"/>
                </a:solidFill>
                <a:latin typeface="Calibri"/>
              </a:rPr>
              <a:t>•  Tab title also flashes</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5/8</a:t>
            </a:r>
          </a:p>
        </p:txBody>
      </p:sp>
      <p:pic>
        <p:nvPicPr>
          <p:cNvPr id="11" name="05-5a4d1e01c9">
            <a:hlinkClick r:id="" action="ppaction://media"/>
            <a:extLst>
              <a:ext uri="{FF2B5EF4-FFF2-40B4-BE49-F238E27FC236}">
                <a16:creationId xmlns:a16="http://schemas.microsoft.com/office/drawing/2014/main" id="{08CCB1CD-8EE9-76E3-02A5-7E5623818DD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41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After Accept</a:t>
            </a:r>
          </a:p>
        </p:txBody>
      </p:sp>
      <p:pic>
        <p:nvPicPr>
          <p:cNvPr id="6" name="Picture 5" descr="staff-05-after-accep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Request assigned</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Alert stops after Accept</a:t>
            </a:r>
          </a:p>
          <a:p>
            <a:pPr>
              <a:spcAft>
                <a:spcPts val="800"/>
              </a:spcAft>
            </a:pPr>
            <a:r>
              <a:rPr sz="1300" b="0">
                <a:solidFill>
                  <a:srgbClr val="1A2E28"/>
                </a:solidFill>
                <a:latin typeface="Calibri"/>
              </a:rPr>
              <a:t>•  Open Peer chat / voice</a:t>
            </a:r>
          </a:p>
          <a:p>
            <a:pPr>
              <a:spcAft>
                <a:spcPts val="800"/>
              </a:spcAft>
            </a:pPr>
            <a:r>
              <a:rPr sz="1300" b="0">
                <a:solidFill>
                  <a:srgbClr val="1A2E28"/>
                </a:solidFill>
                <a:latin typeface="Calibri"/>
              </a:rPr>
              <a:t>•  The employee may get email/SMS join link</a:t>
            </a:r>
          </a:p>
          <a:p>
            <a:pPr>
              <a:spcAft>
                <a:spcPts val="800"/>
              </a:spcAft>
            </a:pPr>
            <a:r>
              <a:rPr sz="1300" b="0">
                <a:solidFill>
                  <a:srgbClr val="1A2E28"/>
                </a:solidFill>
                <a:latin typeface="Calibri"/>
              </a:rPr>
              <a:t>•  Share room code manually if needed</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6/8</a:t>
            </a:r>
          </a:p>
        </p:txBody>
      </p:sp>
      <p:pic>
        <p:nvPicPr>
          <p:cNvPr id="11" name="06-0370c06ba5">
            <a:hlinkClick r:id="" action="ppaction://media"/>
            <a:extLst>
              <a:ext uri="{FF2B5EF4-FFF2-40B4-BE49-F238E27FC236}">
                <a16:creationId xmlns:a16="http://schemas.microsoft.com/office/drawing/2014/main" id="{F7F9534D-5807-7117-1171-B0434CE0C39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96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In chat with the employee</a:t>
            </a:r>
          </a:p>
        </p:txBody>
      </p:sp>
      <p:pic>
        <p:nvPicPr>
          <p:cNvPr id="6" name="Picture 5" descr="staff-06-in-chat.png"/>
          <p:cNvPicPr>
            <a:picLocks noChangeAspect="1"/>
          </p:cNvPicPr>
          <p:nvPr/>
        </p:nvPicPr>
        <p:blipFill>
          <a:blip r:embed="rId5"/>
          <a:stretch>
            <a:fillRect/>
          </a:stretch>
        </p:blipFill>
        <p:spPr>
          <a:xfrm>
            <a:off x="365760" y="1188720"/>
            <a:ext cx="6858000" cy="4822031"/>
          </a:xfrm>
          <a:prstGeom prst="rect">
            <a:avLst/>
          </a:prstGeom>
        </p:spPr>
      </p:pic>
      <p:sp>
        <p:nvSpPr>
          <p:cNvPr id="7" name="Rounded Rectangle 6"/>
          <p:cNvSpPr/>
          <p:nvPr/>
        </p:nvSpPr>
        <p:spPr>
          <a:xfrm>
            <a:off x="7452360" y="1188720"/>
            <a:ext cx="4297680" cy="4937760"/>
          </a:xfrm>
          <a:prstGeom prst="roundRect">
            <a:avLst/>
          </a:prstGeom>
          <a:solidFill>
            <a:srgbClr val="FFFFFF"/>
          </a:solidFill>
          <a:ln>
            <a:solidFill>
              <a:srgbClr val="0F6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371600"/>
            <a:ext cx="3840480" cy="822960"/>
          </a:xfrm>
          <a:prstGeom prst="rect">
            <a:avLst/>
          </a:prstGeom>
          <a:noFill/>
        </p:spPr>
        <p:txBody>
          <a:bodyPr wrap="square">
            <a:spAutoFit/>
          </a:bodyPr>
          <a:lstStyle/>
          <a:p>
            <a:r>
              <a:rPr sz="1500" b="1">
                <a:solidFill>
                  <a:srgbClr val="0F6A4A"/>
                </a:solidFill>
                <a:latin typeface="Calibri"/>
              </a:rPr>
              <a:t>Same room code</a:t>
            </a:r>
          </a:p>
        </p:txBody>
      </p:sp>
      <p:sp>
        <p:nvSpPr>
          <p:cNvPr id="9" name="TextBox 8"/>
          <p:cNvSpPr txBox="1"/>
          <p:nvPr/>
        </p:nvSpPr>
        <p:spPr>
          <a:xfrm>
            <a:off x="7680960" y="2286000"/>
            <a:ext cx="3840480" cy="3566160"/>
          </a:xfrm>
          <a:prstGeom prst="rect">
            <a:avLst/>
          </a:prstGeom>
          <a:noFill/>
        </p:spPr>
        <p:txBody>
          <a:bodyPr wrap="square">
            <a:spAutoFit/>
          </a:bodyPr>
          <a:lstStyle/>
          <a:p>
            <a:pPr>
              <a:spcAft>
                <a:spcPts val="800"/>
              </a:spcAft>
            </a:pPr>
            <a:r>
              <a:rPr sz="1300" b="0">
                <a:solidFill>
                  <a:srgbClr val="1A2E28"/>
                </a:solidFill>
                <a:latin typeface="Calibri"/>
              </a:rPr>
              <a:t>•  Use any display name you prefer</a:t>
            </a:r>
          </a:p>
          <a:p>
            <a:pPr>
              <a:spcAft>
                <a:spcPts val="800"/>
              </a:spcAft>
            </a:pPr>
            <a:r>
              <a:rPr sz="1300" b="0">
                <a:solidFill>
                  <a:srgbClr val="1A2E28"/>
                </a:solidFill>
                <a:latin typeface="Calibri"/>
              </a:rPr>
              <a:t>•  Soft chime on new messages</a:t>
            </a:r>
          </a:p>
          <a:p>
            <a:pPr>
              <a:spcAft>
                <a:spcPts val="800"/>
              </a:spcAft>
            </a:pPr>
            <a:r>
              <a:rPr sz="1300" b="0">
                <a:solidFill>
                  <a:srgbClr val="1A2E28"/>
                </a:solidFill>
                <a:latin typeface="Calibri"/>
              </a:rPr>
              <a:t>•  Add notes + log time on the request</a:t>
            </a:r>
          </a:p>
          <a:p>
            <a:pPr>
              <a:spcAft>
                <a:spcPts val="800"/>
              </a:spcAft>
            </a:pPr>
            <a:r>
              <a:rPr sz="1300" b="0">
                <a:solidFill>
                  <a:srgbClr val="1A2E28"/>
                </a:solidFill>
                <a:latin typeface="Calibri"/>
              </a:rPr>
              <a:t>•  Close the request when finished</a:t>
            </a:r>
          </a:p>
        </p:txBody>
      </p:sp>
      <p:sp>
        <p:nvSpPr>
          <p:cNvPr id="10" name="TextBox 9"/>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7/8</a:t>
            </a:r>
          </a:p>
        </p:txBody>
      </p:sp>
      <p:pic>
        <p:nvPicPr>
          <p:cNvPr id="11" name="07-8277afc74d">
            <a:hlinkClick r:id="" action="ppaction://media"/>
            <a:extLst>
              <a:ext uri="{FF2B5EF4-FFF2-40B4-BE49-F238E27FC236}">
                <a16:creationId xmlns:a16="http://schemas.microsoft.com/office/drawing/2014/main" id="{E051CBF8-2A49-B8D5-07E2-01F974B6CD2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6992"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0F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6400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11480" y="146304"/>
            <a:ext cx="11155680" cy="777240"/>
          </a:xfrm>
          <a:prstGeom prst="rect">
            <a:avLst/>
          </a:prstGeom>
          <a:noFill/>
        </p:spPr>
        <p:txBody>
          <a:bodyPr wrap="square">
            <a:spAutoFit/>
          </a:bodyPr>
          <a:lstStyle/>
          <a:p>
            <a:r>
              <a:rPr sz="1100" b="1">
                <a:solidFill>
                  <a:srgbClr val="FFFFFF"/>
                </a:solidFill>
                <a:latin typeface="Calibri"/>
              </a:rPr>
              <a:t>PEERPOINT · STAFF</a:t>
            </a:r>
          </a:p>
          <a:p>
            <a:r>
              <a:rPr sz="2400" b="1">
                <a:solidFill>
                  <a:srgbClr val="FFFFFF"/>
                </a:solidFill>
                <a:latin typeface="Calibri"/>
              </a:rPr>
              <a:t>Peer Support Member quick checklist</a:t>
            </a:r>
          </a:p>
        </p:txBody>
      </p:sp>
      <p:sp>
        <p:nvSpPr>
          <p:cNvPr id="6" name="TextBox 5"/>
          <p:cNvSpPr txBox="1"/>
          <p:nvPr/>
        </p:nvSpPr>
        <p:spPr>
          <a:xfrm>
            <a:off x="502920" y="1234440"/>
            <a:ext cx="10972800" cy="5029200"/>
          </a:xfrm>
          <a:prstGeom prst="rect">
            <a:avLst/>
          </a:prstGeom>
          <a:noFill/>
        </p:spPr>
        <p:txBody>
          <a:bodyPr wrap="square">
            <a:spAutoFit/>
          </a:bodyPr>
          <a:lstStyle/>
          <a:p>
            <a:pPr>
              <a:spcAft>
                <a:spcPts val="900"/>
              </a:spcAft>
            </a:pPr>
            <a:r>
              <a:rPr sz="1700" b="0">
                <a:solidFill>
                  <a:srgbClr val="1A2E28"/>
                </a:solidFill>
                <a:latin typeface="Calibri"/>
              </a:rPr>
              <a:t>•  Sign in → Available + On Call.</a:t>
            </a:r>
          </a:p>
          <a:p>
            <a:pPr>
              <a:spcAft>
                <a:spcPts val="900"/>
              </a:spcAft>
            </a:pPr>
            <a:r>
              <a:rPr sz="1700" b="0">
                <a:solidFill>
                  <a:srgbClr val="1A2E28"/>
                </a:solidFill>
                <a:latin typeface="Calibri"/>
              </a:rPr>
              <a:t>•  Watch for blinking assignment alerts.</a:t>
            </a:r>
          </a:p>
          <a:p>
            <a:pPr>
              <a:spcAft>
                <a:spcPts val="900"/>
              </a:spcAft>
            </a:pPr>
            <a:r>
              <a:rPr sz="1700" b="0">
                <a:solidFill>
                  <a:srgbClr val="1A2E28"/>
                </a:solidFill>
                <a:latin typeface="Calibri"/>
              </a:rPr>
              <a:t>•  Accept → join chat/voice → support the employee.</a:t>
            </a:r>
          </a:p>
          <a:p>
            <a:pPr>
              <a:spcAft>
                <a:spcPts val="900"/>
              </a:spcAft>
            </a:pPr>
            <a:r>
              <a:rPr sz="1700" b="0">
                <a:solidFill>
                  <a:srgbClr val="1A2E28"/>
                </a:solidFill>
                <a:latin typeface="Calibri"/>
              </a:rPr>
              <a:t>•  Notes / time → Close → Sign out.</a:t>
            </a:r>
          </a:p>
        </p:txBody>
      </p:sp>
      <p:sp>
        <p:nvSpPr>
          <p:cNvPr id="7" name="TextBox 6"/>
          <p:cNvSpPr txBox="1"/>
          <p:nvPr/>
        </p:nvSpPr>
        <p:spPr>
          <a:xfrm>
            <a:off x="411480" y="6492240"/>
            <a:ext cx="11155680" cy="274320"/>
          </a:xfrm>
          <a:prstGeom prst="rect">
            <a:avLst/>
          </a:prstGeom>
          <a:noFill/>
        </p:spPr>
        <p:txBody>
          <a:bodyPr wrap="none">
            <a:spAutoFit/>
          </a:bodyPr>
          <a:lstStyle/>
          <a:p>
            <a:r>
              <a:rPr sz="1000" b="0">
                <a:solidFill>
                  <a:srgbClr val="4A5C56"/>
                </a:solidFill>
                <a:latin typeface="Calibri"/>
              </a:rPr>
              <a:t>PEERPoint · Staff  ·  Emergencies 911 · Crisis 988 · Peer line 801-548-8002  ·  8/8</a:t>
            </a:r>
          </a:p>
        </p:txBody>
      </p:sp>
      <p:pic>
        <p:nvPicPr>
          <p:cNvPr id="8" name="08-664a2556f9">
            <a:hlinkClick r:id="" action="ppaction://media"/>
            <a:extLst>
              <a:ext uri="{FF2B5EF4-FFF2-40B4-BE49-F238E27FC236}">
                <a16:creationId xmlns:a16="http://schemas.microsoft.com/office/drawing/2014/main" id="{1CEC4293-7B02-CAE2-A152-4E31B96B128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52400" y="6477000"/>
            <a:ext cx="279400" cy="279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047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834</Words>
  <Application>Microsoft Office PowerPoint</Application>
  <PresentationFormat>Widescreen</PresentationFormat>
  <Paragraphs>68</Paragraphs>
  <Slides>8</Slides>
  <Notes>8</Notes>
  <HiddenSlides>0</HiddenSlides>
  <MMClips>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Sam Smith</cp:lastModifiedBy>
  <cp:revision>2</cp:revision>
  <dcterms:created xsi:type="dcterms:W3CDTF">2013-01-27T09:14:16Z</dcterms:created>
  <dcterms:modified xsi:type="dcterms:W3CDTF">2026-08-15T04:44:50Z</dcterms:modified>
  <cp:category/>
</cp:coreProperties>
</file>